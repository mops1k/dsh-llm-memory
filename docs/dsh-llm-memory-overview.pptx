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мс p50</c:v>
                </c:pt>
              </c:strCache>
            </c:strRef>
          </c:tx>
          <c:spPr>
            <a:solidFill>
              <a:srgbClr val="B6C2D2"/>
            </a:solidFill>
          </c:spPr>
          <c:cat>
            <c:strRef>
              <c:f>Sheet1!$A$2:$A$3</c:f>
              <c:strCache>
                <c:ptCount val="2"/>
                <c:pt idx="0">
                  <c:v>ripgrep по тем же
корням (12 процессов)</c:v>
                </c:pt>
                <c:pt idx="1">
                  <c:v>память:
поиск + ранжирование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327.0</c:v>
                </c:pt>
                <c:pt idx="1">
                  <c:v>71.0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0F2A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>
              <a:solidFill>
                <a:srgbClr val="D8E0EC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8FC2FF"/>
                </a:solidFill>
                <a:latin typeface="Segoe UI"/>
              </a:rPr>
              <a:t>DEEPSEEK HARNESS  ·  ПЛАГИН ДОЛГОВРЕМЕННОЙ ПАМЯТИ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Долговременная память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ИИ-агента: зачем она нужна,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плюсы и минусы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37560"/>
            <a:ext cx="1554480" cy="444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AF2"/>
                </a:solidFill>
                <a:latin typeface="Segoe UI"/>
              </a:rPr>
              <a:t>Разбор на живом примере: плагин dsh-llm-memory для DeepSeek Harness.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AF2"/>
                </a:solidFill>
                <a:latin typeface="Segoe UI"/>
              </a:rPr>
              <a:t>Он вырос из плагина для opencode и порта в Kilo Code — и теперь живёт в dsh.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572000"/>
            <a:ext cx="265404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6908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8FC2FF"/>
                </a:solidFill>
                <a:latin typeface="Segoe UI"/>
              </a:rPr>
              <a:t>1 063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389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записи в хранилище,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880 активных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278" y="4572000"/>
            <a:ext cx="265404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3582" y="46908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8FC2FF"/>
                </a:solidFill>
                <a:latin typeface="Segoe U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3582" y="51389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проектов в реестре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+ слой пользователя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4572000"/>
            <a:ext cx="265404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3932" y="46908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74E0A8"/>
                </a:solidFill>
                <a:latin typeface="Segoe UI"/>
              </a:rPr>
              <a:t>71 мс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3932" y="51389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поиск по памяти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(p50, 200 запросов)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7978" y="4572000"/>
            <a:ext cx="265404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4282" y="46908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74E0A8"/>
                </a:solidFill>
                <a:latin typeface="Segoe UI"/>
              </a:rPr>
              <a:t>0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4282" y="51389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за запрос: локальный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индекс, без облака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89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FB4D0"/>
                </a:solidFill>
                <a:latin typeface="Segoe UI"/>
              </a:rPr>
              <a:t>Данные живого хранилища и замеры: 15.10.2026  ·  WSL2/Arch, Node 24.20.0, dsh 0.1.7-rc.2  ·  плагин v0.1.1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FB4D0"/>
                </a:solidFill>
                <a:latin typeface="Segoe UI"/>
              </a:rPr>
              <a:t>Внешние цифры — из первоисточников (arXiv, документация вендоров), ссылки в подвале слайдов.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Агент не помнит, что было до этой сессии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Потеря середины контекста — arXiv 2307.03172, Table 6 (20 документов на входе) · окно и пороги компакции — настройки dsh · AGENTS.md 16 199 Б ≈ 5,2k токенов — замер 09.10.2026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A4A"/>
                </a:solidFill>
                <a:latin typeface="Segoe UI"/>
              </a:rPr>
              <a:t>Контекст — не память: он конечен, дорожает и обнуляется с каждой новой сессией.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84831"/>
            <a:ext cx="11055096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Контекст сессии конечен: </a:t>
            </a:r>
            <a:r>
              <a:rPr sz="1350">
                <a:solidFill>
                  <a:srgbClr val="112238"/>
                </a:solidFill>
                <a:latin typeface="Segoe UI"/>
              </a:rPr>
              <a:t>чем длиннее переписка, тем хуже модель видит её середину — точность падает с 75,8% до 53,8%.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Новая сессия начинается с нуля: </a:t>
            </a:r>
            <a:r>
              <a:rPr sz="1350">
                <a:solidFill>
                  <a:srgbClr val="112238"/>
                </a:solidFill>
                <a:latin typeface="Segoe UI"/>
              </a:rPr>
              <a:t>структуру проекта, стек, решения, грабли и правила агент выясняет заново.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Правила «всегда в промпте» дорожают: </a:t>
            </a:r>
            <a:r>
              <a:rPr sz="1350">
                <a:solidFill>
                  <a:srgbClr val="112238"/>
                </a:solidFill>
                <a:latin typeface="Segoe UI"/>
              </a:rPr>
              <a:t>AGENTS.md = 16 199 Б ≈ 5,2k токенов в каждом запросе, и файл растёт.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Знание рассеяно: </a:t>
            </a:r>
            <a:r>
              <a:rPr sz="1350">
                <a:solidFill>
                  <a:srgbClr val="112238"/>
                </a:solidFill>
                <a:latin typeface="Segoe UI"/>
              </a:rPr>
              <a:t>заметки в markdown, решения в чатах, правила в голове пользователя — поиска по ним нет.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Дороже всего — тихо потерянное ограничение: </a:t>
            </a:r>
            <a:r>
              <a:rPr sz="1350">
                <a:solidFill>
                  <a:srgbClr val="112238"/>
                </a:solidFill>
                <a:latin typeface="Segoe UI"/>
              </a:rPr>
              <a:t>агент нарушает правило, о котором просто не знал.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83480"/>
            <a:ext cx="3587496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102352"/>
            <a:ext cx="32948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F2A4A"/>
                </a:solidFill>
                <a:latin typeface="Segoe UI"/>
              </a:rPr>
              <a:t>1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550408"/>
            <a:ext cx="32948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токенов — окно сессии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728" y="4983480"/>
            <a:ext cx="3587496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7032" y="5102352"/>
            <a:ext cx="32948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F2A4A"/>
                </a:solidFill>
                <a:latin typeface="Segoe UI"/>
              </a:rPr>
              <a:t>50% /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7032" y="5550408"/>
            <a:ext cx="32948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пороги авто-компакции: старое вытесняется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8" y="4983480"/>
            <a:ext cx="3587496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0832" y="5102352"/>
            <a:ext cx="329488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C93B2B"/>
                </a:solidFill>
                <a:latin typeface="Segoe UI"/>
              </a:rPr>
              <a:t>дважды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0832" y="5550408"/>
            <a:ext cx="32948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платит пользователь: временем и токенами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ОБЩАЯ ЧАСТЬ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Что такое долговременная память агента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Строки 3–4 — замеры 09.10.2026 на этом хранилище; строки 6–7 — оценка по устройству сервисов, прямых замеров на этом стенде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509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A4A"/>
                </a:solidFill>
                <a:latin typeface="Segoe UI"/>
              </a:rPr>
              <a:t>Механизм, который хранит знание вне сессии и возвращает в контекст только нужное — по запросу, а не целиком.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29968"/>
          <a:ext cx="1105509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1019"/>
                <a:gridCol w="2432121"/>
                <a:gridCol w="3095426"/>
                <a:gridCol w="3316528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Подход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Где живёт знание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Чем ищет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Сколько это стоит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Правила в промпте (AGENTS.md)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файл в репозитории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не ищет: всё всегда в контексте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D9730E"/>
                          </a:solidFill>
                          <a:latin typeface="Segoe UI"/>
                        </a:rPr>
                        <a:t>5,2k токенов в каждом запросе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Markdown + grep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файлы проекта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точные слова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327 мс p50, 0 ₽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Поисковый индекс (FTS)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файлы + локальный индекс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слова + ранжирование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E8E4A"/>
                          </a:solidFill>
                          <a:latin typeface="Segoe UI"/>
                        </a:rPr>
                        <a:t>71 мс p50, 0 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Векторный поиск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файлы/БД + «смысловые отпечатки»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смысл, синонимы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локально дёшево, у API — оплата за токены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Граф знаний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граф сущностей и связей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обход связей + вектор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D9730E"/>
                          </a:solidFill>
                          <a:latin typeface="Segoe UI"/>
                        </a:rPr>
                        <a:t>дороже на запись и поиск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Облако вендора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у поставщика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внутри сервиса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D9730E"/>
                          </a:solidFill>
                          <a:latin typeface="Segoe UI"/>
                        </a:rPr>
                        <a:t>подписка, данные вне контура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C4D66"/>
                          </a:solidFill>
                          <a:latin typeface="Segoe UI"/>
                        </a:rPr>
                        <a:t>Встроено в агента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у поставщика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внутри агента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C4D66"/>
                          </a:solidFill>
                          <a:latin typeface="Segoe UI"/>
                        </a:rPr>
                        <a:t>входит в подписку на агента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ОТКУДА ВЗЯЛСЯ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Один подход, три среды: opencode → Kilo Code → dsh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kilo.ai/docs/customize/context/memory · blog.kilo.ai/p/introducing-kilo-memory (22.07.2026) · github.com/Kilo-Org/kilocode, PR #11172 · импортируемое хранилище — README.ru.md (~/.config/kilo/memory/db/memory.db) · оригинал под opencode публично не опубликован (по словам автора)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20240"/>
            <a:ext cx="44450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2082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0F2A4A"/>
                </a:solidFill>
                <a:latin typeface="Segoe UI"/>
              </a:rPr>
              <a:t>1. opencode — первый вариант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96312"/>
            <a:ext cx="324612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Segoe UI"/>
              </a:rPr>
              <a:t>Плагин долговременной памяти был написан для opencode. Публично он нигде не публиковался: кода в открытом доступе нет, поэтому проверить снаружи нечего — это свидетельство автора.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2024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20240"/>
            <a:ext cx="44450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2082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0F2A4A"/>
                </a:solidFill>
                <a:latin typeface="Segoe UI"/>
              </a:rPr>
              <a:t>2. Kilo Code — плагин kilo-memory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96312"/>
            <a:ext cx="324612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Segoe UI"/>
              </a:rPr>
              <a:t>Порт в Kilo Code отдельным плагином: хранилище в ~/.config/kilo/memory — таблица memories с полнотекстовым индексом, страницы pages/&lt;категория&gt;/&lt;имя&gt;.md. У Kilo есть и своя встроенная функция Kilo Memory; формат хранения у неё другой.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57530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44450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02082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0F2A4A"/>
                </a:solidFill>
                <a:latin typeface="Segoe UI"/>
              </a:rPr>
              <a:t>3. DeepSeek Harness — dsh-llm-memory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496312"/>
            <a:ext cx="324612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Segoe UI"/>
              </a:rPr>
              <a:t>Порт в dsh: 7 инструментов llm_memory_*, markdown как источник правды плюс локальный индекс, вкладка в оболочке, отдельный пункт настроек, импорт из kilo-memory, dsh-mnemon и dsh-memory.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3484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E8F0FC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572000"/>
            <a:ext cx="10652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0F2A4A"/>
                </a:solidFill>
                <a:latin typeface="Segoe UI"/>
              </a:rPr>
              <a:t>Что переносится из среды в среду: markdown как источник правды · категории записей · гигиена вместо противоречий (новая запись заменяет старую) · выгрузка правил в AGENTS.md.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Что умеет dsh-llm-memory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README.ru.md (v0.1.1) · src/dsh/tools.ts, src/dsh/settings.ts, src/dsh/context.ts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75304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44450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73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7 инструментов для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148840"/>
            <a:ext cx="324612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recall, save, forget, delete, status, lint, heal — уникальные имена, чтобы не конфликтовать с другими плагинами памяти.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572768"/>
            <a:ext cx="3575304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572768"/>
            <a:ext cx="44450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73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Markdown — источник правды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4612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страница записи = обычный файл с заголовком. Индекс производный: его можно удалить и собрать заново, данные не теряются.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72768"/>
            <a:ext cx="3575304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72768"/>
            <a:ext cx="44450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1673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Поиск по запросу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148840"/>
            <a:ext cx="324612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локальный индекс на node:sqlite: ни внешних API, ни облака, ни оплаты за запрос. Две версии поиска — по словам и по смыслу.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95344"/>
            <a:ext cx="3575304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95344"/>
            <a:ext cx="44450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99592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Интерфейс внутри dsh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4471416"/>
            <a:ext cx="324612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вкладка LLM Memory рядом с разговором: поиск, создание, граф, статус, проверки. Настройки — отдельным пунктом Settings.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6824" y="3895344"/>
            <a:ext cx="3575304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3895344"/>
            <a:ext cx="44450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99592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Импорт уже накопленного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471416"/>
            <a:ext cx="324612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kilo-memory, dsh-mnemon, dsh-memory: идемпотентно и только на чтение — чужие хранилища не меняются.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95344"/>
            <a:ext cx="3575304" cy="2157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895344"/>
            <a:ext cx="44450" cy="21579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399592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Экспорт правил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4471416"/>
            <a:ext cx="324612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выгрузка правил в $DSH_HOME/AGENTS.md: сначала предпросмотр, потом подтверждение, блок управляемый.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Как плагин встроен в dsh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README.ru.md (установка, совместимость) · projects.json и копия memory.db, 15.10.2026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5852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>
                <a:solidFill>
                  <a:srgbClr val="1F6FEB"/>
                </a:solidFill>
                <a:latin typeface="Segoe UI"/>
              </a:rPr>
              <a:t>▪  </a:t>
            </a:r>
            <a:r>
              <a:rPr sz="1300" b="1">
                <a:solidFill>
                  <a:srgbClr val="112238"/>
                </a:solidFill>
                <a:latin typeface="Segoe UI"/>
              </a:rPr>
              <a:t>Установка как плагина: </a:t>
            </a:r>
            <a:r>
              <a:rPr sz="1300">
                <a:solidFill>
                  <a:srgbClr val="112238"/>
                </a:solidFill>
                <a:latin typeface="Segoe UI"/>
              </a:rPr>
              <a:t>dsh plugin add в профиль; плагин приносит bundle-patch и браузерный клиент, перезапуск dsh — и вкладка на месте.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>
                <a:solidFill>
                  <a:srgbClr val="1F6FEB"/>
                </a:solidFill>
                <a:latin typeface="Segoe UI"/>
              </a:rPr>
              <a:t>▪  </a:t>
            </a:r>
            <a:r>
              <a:rPr sz="1300" b="1">
                <a:solidFill>
                  <a:srgbClr val="112238"/>
                </a:solidFill>
                <a:latin typeface="Segoe UI"/>
              </a:rPr>
              <a:t>Совместимость: </a:t>
            </a:r>
            <a:r>
              <a:rPr sz="1300">
                <a:solidFill>
                  <a:srgbClr val="112238"/>
                </a:solidFill>
                <a:latin typeface="Segoe UI"/>
              </a:rPr>
              <a:t>все зависимости dsh объявлены как workspace:^, есть автопроверка совместимости — после обновления dsh плагин не «исчезает» молча.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>
                <a:solidFill>
                  <a:srgbClr val="1F6FEB"/>
                </a:solidFill>
                <a:latin typeface="Segoe UI"/>
              </a:rPr>
              <a:t>▪  </a:t>
            </a:r>
            <a:r>
              <a:rPr sz="1300" b="1">
                <a:solidFill>
                  <a:srgbClr val="112238"/>
                </a:solidFill>
                <a:latin typeface="Segoe UI"/>
              </a:rPr>
              <a:t>Слоты оболочки: </a:t>
            </a:r>
            <a:r>
              <a:rPr sz="1300">
                <a:solidFill>
                  <a:srgbClr val="112238"/>
                </a:solidFill>
                <a:latin typeface="Segoe UI"/>
              </a:rPr>
              <a:t>вкладка LLM Memory рядом с разговором и страница Settings → LLM Memory.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>
                <a:solidFill>
                  <a:srgbClr val="1F6FEB"/>
                </a:solidFill>
                <a:latin typeface="Segoe UI"/>
              </a:rPr>
              <a:t>▪  </a:t>
            </a:r>
            <a:r>
              <a:rPr sz="1300" b="1">
                <a:solidFill>
                  <a:srgbClr val="112238"/>
                </a:solidFill>
                <a:latin typeface="Segoe UI"/>
              </a:rPr>
              <a:t>Один владелец хранилища: </a:t>
            </a:r>
            <a:r>
              <a:rPr sz="1300">
                <a:solidFill>
                  <a:srgbClr val="112238"/>
                </a:solidFill>
                <a:latin typeface="Segoe UI"/>
              </a:rPr>
              <a:t>индекс на node:sqlite синхронный, поэтому держат один экземпляр dsh.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74519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011680"/>
            <a:ext cx="44805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Где лежит память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&lt;проект&gt;/.dsh/llm-memory/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    facts/ · rules/ · decisions/ …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~/.dsh/llm-memory/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    _user/&lt;категория&gt;/   173 записи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    _db/memory.db        9,46 МБ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    _digest/             159 дайджестов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    projects.json        14 проектов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    log.md               журнал операций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/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Страница называется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Consolas"/>
              </a:rPr>
              <a:t>&lt;заголовок&gt;-&lt;id&gt;.md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Жизненный цикл знания: найти, записать, забыть, проверить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src/core/config.ts (автономность по умолчанию) · замеры 09.10.2026: upsert/delete, lint, graph · счётчики БД 15.10.2026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264033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44450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75103"/>
            <a:ext cx="23111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1. RECALL — найти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50591"/>
            <a:ext cx="2311146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Перед ответом о фактах, решениях и правилах агент сначала ищет в памяти. 71 мс p50.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1874519"/>
            <a:ext cx="264033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1850" y="1874519"/>
            <a:ext cx="44450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5586" y="1975103"/>
            <a:ext cx="23111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2. SAVE — записать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5586" y="2450591"/>
            <a:ext cx="2311146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Сразу после вехи: факт, решение с обоснованием, правило, грабли. 0,28 мс p50.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772" y="1874519"/>
            <a:ext cx="264033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874519"/>
            <a:ext cx="44450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508" y="1975103"/>
            <a:ext cx="23111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3. FORGET / SUPERSEDE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508" y="2450591"/>
            <a:ext cx="2311146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Решение изменилось — старая запись помечается забытой или superseded. 183 записи.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1694" y="1874519"/>
            <a:ext cx="264033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1694" y="1874519"/>
            <a:ext cx="44450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5430" y="1975103"/>
            <a:ext cx="23111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4. LINT / HEAL — проверить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5430" y="2450591"/>
            <a:ext cx="2311146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0" i="0">
                <a:solidFill>
                  <a:srgbClr val="3C4D66"/>
                </a:solidFill>
                <a:latin typeface="Segoe UI"/>
              </a:rPr>
              <a:t>Пересечения, битые связи, устаревшее; переиндексация изменённых страниц. lint 832 мс, граф 873 мс.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06240"/>
            <a:ext cx="11055096" cy="1600200"/>
          </a:xfrm>
          <a:prstGeom prst="roundRect">
            <a:avLst>
              <a:gd name="adj" fmla="val 5000"/>
            </a:avLst>
          </a:prstGeom>
          <a:solidFill>
            <a:srgbClr val="ECF7EF"/>
          </a:solidFill>
          <a:ln w="9525">
            <a:solidFill>
              <a:srgbClr val="C4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343400"/>
            <a:ext cx="1061618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112238"/>
                </a:solidFill>
                <a:latin typeface="Segoe UI"/>
              </a:rPr>
              <a:t>Правило, которое нельзя нарушать — живой пример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 i="0">
                <a:solidFill>
                  <a:srgbClr val="112238"/>
                </a:solidFill>
                <a:latin typeface="Segoe UI"/>
              </a:rPr>
              <a:t>В памяти лежит правило уровня immutable: «на развилке остановиться, показать план текстом и спросить Approve / Change / Cancel; выбор порядка работ — не одобрение». Без памяти агент просто продолжил бы работу. С памятью правило само приходит в контекст — и агент его соблюдает.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78699"/>
                </a:solidFill>
                <a:latin typeface="Segoe UI"/>
              </a:rPr>
              <a:t>Автономность включена по умолчанию: агент сам сохраняет, повышает важность и убирает устаревшее — и отчитывается о том, что записал.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Что именно помнится: категории, слои и вес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src/core/types.ts (kind/scope/tier/status) · живое хранилище, копия memory.db 15.10.2026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576072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Категории (kind): </a:t>
            </a:r>
            <a:r>
              <a:rPr sz="1250">
                <a:solidFill>
                  <a:srgbClr val="112238"/>
                </a:solidFill>
                <a:latin typeface="Segoe UI"/>
              </a:rPr>
              <a:t>facts · architecture · decisions · rules · preferences · concepts.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Слои (scope): </a:t>
            </a:r>
            <a:r>
              <a:rPr sz="1250">
                <a:solidFill>
                  <a:srgbClr val="112238"/>
                </a:solidFill>
                <a:latin typeface="Segoe UI"/>
              </a:rPr>
              <a:t>project — знание конкретного репозитория; user — кросс-проектное, доступно везде.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Вес (tier): </a:t>
            </a:r>
            <a:r>
              <a:rPr sz="1250">
                <a:solidFill>
                  <a:srgbClr val="112238"/>
                </a:solidFill>
                <a:latin typeface="Segoe UI"/>
              </a:rPr>
              <a:t>normal → important → immutable; важность 1–5. immutable-правила попадают в промпт первыми.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Состояние (status): </a:t>
            </a:r>
            <a:r>
              <a:rPr sz="1250">
                <a:solidFill>
                  <a:srgbClr val="112238"/>
                </a:solidFill>
                <a:latin typeface="Segoe UI"/>
              </a:rPr>
              <a:t>active · superseded · forgotten — устаревшее не удаляется молча, а помечается.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Связи: </a:t>
            </a:r>
            <a:r>
              <a:rPr sz="1250">
                <a:solidFill>
                  <a:srgbClr val="112238"/>
                </a:solidFill>
                <a:latin typeface="Segoe UI"/>
              </a:rPr>
              <a:t>supersedes / supersededBy / related — видно, что чем заменено и что связано.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29200"/>
            <a:ext cx="265404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480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F2A4A"/>
                </a:solidFill>
                <a:latin typeface="Segoe UI"/>
              </a:rPr>
              <a:t>880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961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активных записей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7278" y="5029200"/>
            <a:ext cx="265404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3582" y="51480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D9730E"/>
                </a:solidFill>
                <a:latin typeface="Segoe UI"/>
              </a:rPr>
              <a:t>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3582" y="55961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помечены superseded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7628" y="5029200"/>
            <a:ext cx="265404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3932" y="51480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F2A4A"/>
                </a:solidFill>
                <a:latin typeface="Segoe UI"/>
              </a:rPr>
              <a:t>2 / 282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2" y="55961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immutable / important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7978" y="5029200"/>
            <a:ext cx="265404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4282" y="5148072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F2A4A"/>
                </a:solidFill>
                <a:latin typeface="Segoe UI"/>
              </a:rPr>
              <a:t>890 / 173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4282" y="5596128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project / user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874519"/>
            <a:ext cx="502920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993392"/>
            <a:ext cx="46177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Так выглядит страница памяти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---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id: m_9ef39f7b7cef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scope: user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kind: rules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tier: immutable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status: active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importance: 5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title: Одобрение меняющих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  изменений на развилке…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keywords: одобрение, развилка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supersedes: []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related: []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Consolas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Две версии поиска — простыми словами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Замеры 15.10.2026 на копии живого хранилища (1056 записей → 3210 фрагментов, 4,7 МБ отпечатков), план p_951f0dced48f · модель: multilingual-e5-small, 384 числа на фрагмент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57530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47088"/>
            <a:ext cx="44450" cy="2148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4767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0F2A4A"/>
                </a:solidFill>
                <a:latin typeface="Segoe UI"/>
              </a:rPr>
              <a:t>Версия 1 — поиск по словам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23160"/>
            <a:ext cx="32461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Segoe UI"/>
              </a:rPr>
              <a:t>Работает сразу: ничего не скачивает, ничего не стоит. Точно находит по терминам, именам файлов и коду. Другие формы слова и синонимы не понимает — «виснет интерфейс» может не найти запись про ANR.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47088"/>
            <a:ext cx="357530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847088"/>
            <a:ext cx="44450" cy="2148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4767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0F2A4A"/>
                </a:solidFill>
                <a:latin typeface="Segoe UI"/>
              </a:rPr>
              <a:t>Версия 2 — поиск по смыслу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32461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Segoe UI"/>
              </a:rPr>
              <a:t>Каждая запись получает «смысловой отпечаток», и находятся близкие по значению записи, даже если слова другие. Считается на этом же компьютере: ни API, ни интернет. Русский и английский — одна модель.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47088"/>
            <a:ext cx="357530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47088"/>
            <a:ext cx="44450" cy="2148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194767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0F2A4A"/>
                </a:solidFill>
                <a:latin typeface="Segoe UI"/>
              </a:rPr>
              <a:t>Это один и тот же плагин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423160"/>
            <a:ext cx="32461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50" b="0" i="0">
                <a:solidFill>
                  <a:srgbClr val="3C4D66"/>
                </a:solidFill>
                <a:latin typeface="Segoe UI"/>
              </a:rPr>
              <a:t>Вторая версия дополняет первую, а не заменяет: ответ один, записи расставляются по релевантности. Если смысловая часть недоступна, поиск продолжает работать по словам.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6240"/>
            <a:ext cx="5349240" cy="1920240"/>
          </a:xfrm>
          <a:prstGeom prst="roundRect">
            <a:avLst>
              <a:gd name="adj" fmla="val 5000"/>
            </a:avLst>
          </a:prstGeom>
          <a:solidFill>
            <a:srgbClr val="ECF7EF"/>
          </a:solidFill>
          <a:ln w="9525">
            <a:solidFill>
              <a:srgbClr val="C4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334256"/>
            <a:ext cx="4937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Что это даёт человеку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«зависание интерфейса» находит запись про ANR,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«кэширование зависимостей» — про pnpm store.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Замер версии 1: из 60 случаев с другой формой слова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совпало 0; синонимы не находили ничего релевантного.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206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FDF1E4"/>
          </a:solidFill>
          <a:ln w="9525">
            <a:solidFill>
              <a:srgbClr val="F0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4334256"/>
            <a:ext cx="50749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Чем за это платят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≈430 МБ библиотек и ≈120 МБ модель на диске.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Первичный пересчёт — ≈9 минут на 1000 записей,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12238"/>
                </a:solidFill>
                <a:latin typeface="Segoe UI"/>
              </a:rPr>
              <a:t>дальше обрабатываются только новые и изменённые.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ПЛЮСЫ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Плюс: экономия времени и внимания человека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Замеры 09.10.2026: 200 запросов-заголовков, 877 страниц, 12 корней (bench-recall), events/счётчики хранилища 15.10.2026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71 мс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p50 поиск по памяти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против 327 мс у ripgrep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27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358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92,5%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358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нужная запись сразу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первая; Recall@10 =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762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393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повторных объяснений: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знание приходит само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797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428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0,954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428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MRR — средняя позиция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нужной записи ≈1,05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063240"/>
            <a:ext cx="64922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Знание переживает сессию: </a:t>
            </a:r>
            <a:r>
              <a:rPr sz="1250">
                <a:solidFill>
                  <a:srgbClr val="112238"/>
                </a:solidFill>
                <a:latin typeface="Segoe UI"/>
              </a:rPr>
              <a:t>правило, решение и грабли возвращаются в контекст сами — 880 активных записей в 14 проектах.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Не нужно перечитывать проект: </a:t>
            </a:r>
            <a:r>
              <a:rPr sz="1250">
                <a:solidFill>
                  <a:srgbClr val="112238"/>
                </a:solidFill>
                <a:latin typeface="Segoe UI"/>
              </a:rPr>
              <a:t>агент не выясняет заново структуру, стек, конвенции и договорённости.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Кросс-проектный слой: </a:t>
            </a:r>
            <a:r>
              <a:rPr sz="1250">
                <a:solidFill>
                  <a:srgbClr val="112238"/>
                </a:solidFill>
                <a:latin typeface="Segoe UI"/>
              </a:rPr>
              <a:t>общие предпочтения и правила доступны в любом проекте — 173 записи слоя user.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Гигиена вместо свалки: </a:t>
            </a:r>
            <a:r>
              <a:rPr sz="1250">
                <a:solidFill>
                  <a:srgbClr val="112238"/>
                </a:solidFill>
                <a:latin typeface="Segoe UI"/>
              </a:rPr>
              <a:t>183 записи помечены superseded, битых связей нет — противоречия не копятся.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1F6FEB"/>
                </a:solidFill>
                <a:latin typeface="Segoe UI"/>
              </a:rPr>
              <a:t>▪  </a:t>
            </a:r>
            <a:r>
              <a:rPr sz="1250" b="1">
                <a:solidFill>
                  <a:srgbClr val="112238"/>
                </a:solidFill>
                <a:latin typeface="Segoe UI"/>
              </a:rPr>
              <a:t>Данные не заперты: </a:t>
            </a:r>
            <a:r>
              <a:rPr sz="1250">
                <a:solidFill>
                  <a:srgbClr val="112238"/>
                </a:solidFill>
                <a:latin typeface="Segoe UI"/>
              </a:rPr>
              <a:t>страница памяти — обычный markdown: её видно, можно поправить руками и закоммитить.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7269480" y="2971800"/>
          <a:ext cx="4343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269480" y="5742432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4,6× быстрее · ripgrep отдаёт файлы, а не ранжированные записи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ПЛЮСЫ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Плюс: экономия токенов и денег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Замеры 09.10.2026: размеры корпуса и выдачи, renderRecall(top-10), rulesForPrompt(), токен-метр dsh (16 199 Б AGENTS.md = 5 168 токенов)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81×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сжатие: весь корпус против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выдачи по запросу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27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358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2,2–2,8k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358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токенов секция памяти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всегда в промпте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762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D9730E"/>
                </a:solidFill>
                <a:latin typeface="Segoe UI"/>
              </a:rPr>
              <a:t>5,2k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393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токенов always-on AGENTS.md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в каждом запросе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7978" y="1810512"/>
            <a:ext cx="2654046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4282" y="1929384"/>
            <a:ext cx="236143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E8E4A"/>
                </a:solidFill>
                <a:latin typeface="Segoe UI"/>
              </a:rPr>
              <a:t>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4282" y="2377440"/>
            <a:ext cx="236143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за запрос: локальный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3C4D66"/>
                </a:solidFill>
                <a:latin typeface="Segoe UI"/>
              </a:rPr>
              <a:t>индекс, без облака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063240"/>
            <a:ext cx="11055096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Корпус ≈0,6–0,8 млн токенов, </a:t>
            </a:r>
            <a:r>
              <a:rPr sz="1350">
                <a:solidFill>
                  <a:srgbClr val="112238"/>
                </a:solidFill>
                <a:latin typeface="Segoe UI"/>
              </a:rPr>
              <a:t>а в запрос уходит выдача top-10 — ≈7–9k токенов: платим за релевантную десятку, а не за всё.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Always-on правила дороже: </a:t>
            </a:r>
            <a:r>
              <a:rPr sz="1350">
                <a:solidFill>
                  <a:srgbClr val="112238"/>
                </a:solidFill>
                <a:latin typeface="Segoe UI"/>
              </a:rPr>
              <a:t>AGENTS.md — 5,2k токенов в каждом запросе; секция памяти — 2,2–2,8k (инструкции плюс дайджест правил).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Ни одного платного вызова: </a:t>
            </a:r>
            <a:r>
              <a:rPr sz="1350">
                <a:solidFill>
                  <a:srgbClr val="112238"/>
                </a:solidFill>
                <a:latin typeface="Segoe UI"/>
              </a:rPr>
              <a:t>поиск по смыслу считается локально, внешних баз и эмбеддингов по подписке нет.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Запись почти бесплатна: </a:t>
            </a:r>
            <a:r>
              <a:rPr sz="1350">
                <a:solidFill>
                  <a:srgbClr val="112238"/>
                </a:solidFill>
                <a:latin typeface="Segoe UI"/>
              </a:rPr>
              <a:t>0,28 мс p50 — знание можно писать щедро, не экономя на важном.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>
                <a:solidFill>
                  <a:srgbClr val="1F6FEB"/>
                </a:solidFill>
                <a:latin typeface="Segoe UI"/>
              </a:rPr>
              <a:t>▪  </a:t>
            </a:r>
            <a:r>
              <a:rPr sz="1350" b="1">
                <a:solidFill>
                  <a:srgbClr val="112238"/>
                </a:solidFill>
                <a:latin typeface="Segoe UI"/>
              </a:rPr>
              <a:t>Экономия повторяется каждый запрос: </a:t>
            </a:r>
            <a:r>
              <a:rPr sz="1350">
                <a:solidFill>
                  <a:srgbClr val="112238"/>
                </a:solidFill>
                <a:latin typeface="Segoe UI"/>
              </a:rPr>
              <a:t>агент не перечитывает код и не переспрашивает то, что уже знает.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МИНУСЫ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Минусы и риски: за что платим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Замеры 09.10.2026 (морфология — 60 кейсов; re-rank, индекс, /mnt/c), замеры 15.10.2026 (вес и время пересчёта смыслового поиска)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0195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93B2B"/>
                </a:solidFill>
                <a:latin typeface="Segoe UI"/>
              </a:rPr>
              <a:t>Измерено на этом хранилище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40280"/>
            <a:ext cx="498348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Словоформы: </a:t>
            </a:r>
            <a:r>
              <a:rPr sz="1150">
                <a:solidFill>
                  <a:srgbClr val="112238"/>
                </a:solidFill>
                <a:latin typeface="Segoe UI"/>
              </a:rPr>
              <a:t>запрос в другой форме находил нужное в 0% случаев против 76,7% для базовой формы.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Синонимы: </a:t>
            </a:r>
            <a:r>
              <a:rPr sz="1150">
                <a:solidFill>
                  <a:srgbClr val="112238"/>
                </a:solidFill>
                <a:latin typeface="Segoe UI"/>
              </a:rPr>
              <a:t>«зависание интерфейса», «кэширование зависимостей» не находили нужных записей.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Пере-ранжирование — 83% времени поиска: </a:t>
            </a:r>
            <a:r>
              <a:rPr sz="1150">
                <a:solidFill>
                  <a:srgbClr val="112238"/>
                </a:solidFill>
                <a:latin typeface="Segoe UI"/>
              </a:rPr>
              <a:t>59,5 мс из 71 мс.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Индекс в 3,5 раза больше источника: </a:t>
            </a:r>
            <a:r>
              <a:rPr sz="1150">
                <a:solidFill>
                  <a:srgbClr val="112238"/>
                </a:solidFill>
                <a:latin typeface="Segoe UI"/>
              </a:rPr>
              <a:t>8,13 МБ против 2,33 МБ markdown.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Медленные диски: </a:t>
            </a:r>
            <a:r>
              <a:rPr sz="1150">
                <a:solidFill>
                  <a:srgbClr val="112238"/>
                </a:solidFill>
                <a:latin typeface="Segoe UI"/>
              </a:rPr>
              <a:t>на WSL /mnt/c 94% времени — операции stat по сетевому монтированию.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Смысловой поиск требует места: </a:t>
            </a:r>
            <a:r>
              <a:rPr sz="1150">
                <a:solidFill>
                  <a:srgbClr val="112238"/>
                </a:solidFill>
                <a:latin typeface="Segoe UI"/>
              </a:rPr>
              <a:t>≈430 МБ библиотек + ≈120 МБ модель.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93B2B"/>
                </a:solidFill>
                <a:latin typeface="Segoe UI"/>
              </a:rPr>
              <a:t>Общие риски подхода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40280"/>
            <a:ext cx="498348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Устаревшая или ложная запись вредна: </a:t>
            </a:r>
            <a:r>
              <a:rPr sz="1150">
                <a:solidFill>
                  <a:srgbClr val="112238"/>
                </a:solidFill>
                <a:latin typeface="Segoe UI"/>
              </a:rPr>
              <a:t>агент уверенно повторяет неправду о проекте.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Ложное срабатывание поиска </a:t>
            </a:r>
            <a:r>
              <a:rPr sz="1150">
                <a:solidFill>
                  <a:srgbClr val="112238"/>
                </a:solidFill>
                <a:latin typeface="Segoe UI"/>
              </a:rPr>
              <a:t>тянет в контекст нерелевантное — токены потрачены зря.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Поверхность атаки: </a:t>
            </a:r>
            <a:r>
              <a:rPr sz="1150">
                <a:solidFill>
                  <a:srgbClr val="112238"/>
                </a:solidFill>
                <a:latin typeface="Segoe UI"/>
              </a:rPr>
              <a:t>сохранённый текст попадает в контекст — память надо чистить от чужого и подозрительного.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Нужна дисциплина: </a:t>
            </a:r>
            <a:r>
              <a:rPr sz="1150">
                <a:solidFill>
                  <a:srgbClr val="112238"/>
                </a:solidFill>
                <a:latin typeface="Segoe UI"/>
              </a:rPr>
              <a:t>проверки, слияние дублей, ручная правка, замена устаревшего.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Приватность: </a:t>
            </a:r>
            <a:r>
              <a:rPr sz="1150">
                <a:solidFill>
                  <a:srgbClr val="112238"/>
                </a:solidFill>
                <a:latin typeface="Segoe UI"/>
              </a:rPr>
              <a:t>память лежит на диске открытым текстом — это надо учитывать.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 b="1">
                <a:solidFill>
                  <a:srgbClr val="112238"/>
                </a:solidFill>
                <a:latin typeface="Segoe UI"/>
              </a:rPr>
              <a:t>Один владелец базы: </a:t>
            </a:r>
            <a:r>
              <a:rPr sz="1150">
                <a:solidFill>
                  <a:srgbClr val="112238"/>
                </a:solidFill>
                <a:latin typeface="Segoe UI"/>
              </a:rPr>
              <a:t>два экземпляра dsh могут перезаписать состояние друг друга.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Плагины и MCP-серверы памяти: бесплатные и платные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Документация и страницы цен проектов, снято 15.10.2026: mem0ai/mem0 (есть integrations/deepseek-plugin) · getzep.com/pricing · docs.letta.com/pricing · basicmemory.com · cmem.ai/pricing · modelcontextprotocol/servers · supermemory.ai/pricing · kilo.ai/docs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73936"/>
          <a:ext cx="11055093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97947"/>
                <a:gridCol w="1934641"/>
                <a:gridCol w="3316528"/>
                <a:gridCol w="3205977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Решение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Форма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Хранение и поиск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Цена</a:t>
                      </a:r>
                    </a:p>
                  </a:txBody>
                  <a:tcPr marL="73152" marR="73152" marT="27432" marB="27432" anchor="ctr">
                    <a:solidFill>
                      <a:srgbClr val="0F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dsh-llm-memory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плагин dsh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markdown + локальный индекс; поиск по словам и смыслу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1E8E4A"/>
                          </a:solidFill>
                          <a:latin typeface="Segoe UI"/>
                        </a:rPr>
                        <a:t>бесплатно, 0 ₽ за запрос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mem0 (есть плагин и для dsh)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MCP + плагины + облако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вектор + граф; свой сервер или облако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D9730E"/>
                          </a:solidFill>
                          <a:latin typeface="Segoe UI"/>
                        </a:rPr>
                        <a:t>free 10k/1k в месяц; $19–$249/мес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Zep / Graphiti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облако + открытый граф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темпоральный граф знаний; нужна своя БД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D9730E"/>
                          </a:solidFill>
                          <a:latin typeface="Segoe UI"/>
                        </a:rPr>
                        <a:t>free-tier 10k кредитов; $125–$375/мес; Graphiti бесплатно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Letta (MemGPT)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отдельная платформа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память как файлы в git-репозитории (MemFS)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D9730E"/>
                          </a:solidFill>
                          <a:latin typeface="Segoe UI"/>
                        </a:rPr>
                        <a:t>free ≤3 агентов; Pro $20/мес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basic-memory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MCP + плагин Claude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markdown + граф связей, локально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1E8E4A"/>
                          </a:solidFill>
                          <a:latin typeface="Segoe UI"/>
                        </a:rPr>
                        <a:t>локально бесплатно; облако $15/мес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claude-mem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плагин-хуки Claude Code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локальная SQLite + полнотекст + вектор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1E8E4A"/>
                          </a:solidFill>
                          <a:latin typeface="Segoe UI"/>
                        </a:rPr>
                        <a:t>движок бесплатно; облако $30–$100/мес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MCP-серверы с открытым кодом: reference memory · mcp-memory-service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MCP-сервер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граф в JSONL · локальная SQLite с эмбеддингами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1E8E4A"/>
                          </a:solidFill>
                          <a:latin typeface="Segoe UI"/>
                        </a:rPr>
                        <a:t>бесплатно (self-hosted)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Supermemory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MCP + плагины Claude Code и opencode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облачный граф памяти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D9730E"/>
                          </a:solidFill>
                          <a:latin typeface="Segoe UI"/>
                        </a:rPr>
                        <a:t>free $5 кредитов; $19–$399/мес</a:t>
                      </a:r>
                    </a:p>
                  </a:txBody>
                  <a:tcPr marL="73152" marR="73152" marT="27432" marB="27432" anchor="ctr"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3C4D66"/>
                          </a:solidFill>
                          <a:latin typeface="Segoe UI"/>
                        </a:rPr>
                        <a:t>Встроено в агентов: Kilo Memory · CLAUDE.md и авто-память · Copilot Memory · Cursor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встроено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3C4D66"/>
                          </a:solidFill>
                          <a:latin typeface="Segoe UI"/>
                        </a:rPr>
                        <a:t>markdown проекта и правила; Copilot помнит 28 дней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1E8E4A"/>
                          </a:solidFill>
                          <a:latin typeface="Segoe UI"/>
                        </a:rPr>
                        <a:t>входит в подписку на агента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779008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Зелёным — бесплатно или уже включено, оранжевым — тариф с оговорками. Платно не значит точнее: в статье mem0 (arXiv 2504.19413) полный контекст набрал больше баллов, чем mem0 — 72,9 против 66,9 при 26k против 1,8k токенов.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Segoe U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105509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0F2A4A"/>
                </a:solidFill>
                <a:latin typeface="Segoe UI"/>
              </a:rPr>
              <a:t>Когда память нужна, а когда приносит вред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37160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78699"/>
                </a:solidFill>
                <a:latin typeface="Segoe UI"/>
              </a:rPr>
              <a:t>Критерии — по замерам 09–15.10.2026 и по устройству подходов (таблица на слайде 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1908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778699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5394960" cy="3017520"/>
          </a:xfrm>
          <a:prstGeom prst="roundRect">
            <a:avLst>
              <a:gd name="adj" fmla="val 5000"/>
            </a:avLst>
          </a:prstGeom>
          <a:solidFill>
            <a:srgbClr val="ECF7EF"/>
          </a:solidFill>
          <a:ln w="9525">
            <a:solidFill>
              <a:srgbClr val="C4E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E4A"/>
                </a:solidFill>
                <a:latin typeface="Segoe UI"/>
              </a:rPr>
              <a:t>Заводить память, если…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31720"/>
            <a:ext cx="49834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F6FEB"/>
                </a:solidFill>
                <a:latin typeface="Segoe UI"/>
              </a:rPr>
              <a:t>▪  </a:t>
            </a:r>
            <a:r>
              <a:rPr sz="1200">
                <a:solidFill>
                  <a:srgbClr val="112238"/>
                </a:solidFill>
                <a:latin typeface="Segoe UI"/>
              </a:rPr>
              <a:t>знание фактическое: пути, версии, решения, правила, грабли проекта;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F6FEB"/>
                </a:solidFill>
                <a:latin typeface="Segoe UI"/>
              </a:rPr>
              <a:t>▪  </a:t>
            </a:r>
            <a:r>
              <a:rPr sz="1200">
                <a:solidFill>
                  <a:srgbClr val="112238"/>
                </a:solidFill>
                <a:latin typeface="Segoe UI"/>
              </a:rPr>
              <a:t>нужна нулевая стоимость запроса и локальность данных;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F6FEB"/>
                </a:solidFill>
                <a:latin typeface="Segoe UI"/>
              </a:rPr>
              <a:t>▪  </a:t>
            </a:r>
            <a:r>
              <a:rPr sz="1200">
                <a:solidFill>
                  <a:srgbClr val="112238"/>
                </a:solidFill>
                <a:latin typeface="Segoe UI"/>
              </a:rPr>
              <a:t>важна объяснимость: видно, почему запись нашлась, и её можно править руками;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F6FEB"/>
                </a:solidFill>
                <a:latin typeface="Segoe UI"/>
              </a:rPr>
              <a:t>▪  </a:t>
            </a:r>
            <a:r>
              <a:rPr sz="1200">
                <a:solidFill>
                  <a:srgbClr val="112238"/>
                </a:solidFill>
                <a:latin typeface="Segoe UI"/>
              </a:rPr>
              <a:t>запросы формулируются теми же словами, что и записи — Recall@1 = 92,5%.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10512"/>
            <a:ext cx="5394960" cy="3017520"/>
          </a:xfrm>
          <a:prstGeom prst="roundRect">
            <a:avLst>
              <a:gd name="adj" fmla="val 5000"/>
            </a:avLst>
          </a:prstGeom>
          <a:solidFill>
            <a:srgbClr val="FDF1E4"/>
          </a:solidFill>
          <a:ln w="9525">
            <a:solidFill>
              <a:srgbClr val="F0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3852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730E"/>
                </a:solidFill>
                <a:latin typeface="Segoe UI"/>
              </a:rPr>
              <a:t>Ограничить или не заводить, если…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31720"/>
            <a:ext cx="498348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>
                <a:solidFill>
                  <a:srgbClr val="112238"/>
                </a:solidFill>
                <a:latin typeface="Segoe UI"/>
              </a:rPr>
              <a:t>формулировки свободные, с синонимами и опечатками — нужна семантика, а не только слова;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>
                <a:solidFill>
                  <a:srgbClr val="112238"/>
                </a:solidFill>
                <a:latin typeface="Segoe UI"/>
              </a:rPr>
              <a:t>хранилище живёт на медленном сетевом диске: 94% времени уходит на stat;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>
                <a:solidFill>
                  <a:srgbClr val="112238"/>
                </a:solidFill>
                <a:latin typeface="Segoe UI"/>
              </a:rPr>
              <a:t>нужны права доступа, синхронизация и командная работа — это локальный однопроцессный стор;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>
                <a:solidFill>
                  <a:srgbClr val="112238"/>
                </a:solidFill>
                <a:latin typeface="Segoe UI"/>
              </a:rPr>
              <a:t>нет времени на гигиену: без чистки память превращается в источник устаревшей неправды;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>
                <a:solidFill>
                  <a:srgbClr val="1F6FEB"/>
                </a:solidFill>
                <a:latin typeface="Segoe UI"/>
              </a:rPr>
              <a:t>▪  </a:t>
            </a:r>
            <a:r>
              <a:rPr sz="1150">
                <a:solidFill>
                  <a:srgbClr val="112238"/>
                </a:solidFill>
                <a:latin typeface="Segoe UI"/>
              </a:rPr>
              <a:t>выгода по токенам не гарантирована: независимый замер (arXiv 2608.11879) даёт окупаемость от первых десятков ходов до «никогда» в пределах 400 ходов.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83480"/>
            <a:ext cx="11055096" cy="12344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38928"/>
            <a:ext cx="1050645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8F0FC"/>
                </a:solidFill>
                <a:latin typeface="Segoe UI"/>
              </a:rPr>
              <a:t>Итог: память покупает время человека и токены, платя за это дисциплиной и локальными ресурсами.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8F0FC"/>
                </a:solidFill>
                <a:latin typeface="Segoe UI"/>
              </a:rPr>
              <a:t>Для одного рабочего места локальный markdown + индекс — выгодный размен; облако оправдано, когда память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8F0FC"/>
                </a:solidFill>
                <a:latin typeface="Segoe UI"/>
              </a:rPr>
              <a:t>нужна команде и на нескольких устройствах. Главное правило пользования: не тащить в контекст весь корпус 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8F0FC"/>
                </a:solidFill>
                <a:latin typeface="Segoe UI"/>
              </a:rPr>
              <a:t>платить только за релевантную десятку.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