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Точность, %</c:v>
                </c:pt>
              </c:strCache>
            </c:strRef>
          </c:tx>
          <c:dPt>
            <c:idx val="0"/>
            <c:spPr>
              <a:solidFill>
                <a:srgbClr val="B42B1E"/>
              </a:solidFill>
            </c:spPr>
          </c:dPt>
          <c:dPt>
            <c:idx val="1"/>
            <c:spPr>
              <a:solidFill>
                <a:srgbClr val="B42B1E"/>
              </a:solidFill>
            </c:spPr>
          </c:dPt>
          <c:dPt>
            <c:idx val="2"/>
            <c:spPr>
              <a:solidFill>
                <a:srgbClr val="B42B1E"/>
              </a:solidFill>
            </c:spPr>
          </c:dPt>
          <c:dPt>
            <c:idx val="3"/>
            <c:spPr>
              <a:solidFill>
                <a:srgbClr val="B42B1E"/>
              </a:solidFill>
            </c:spPr>
          </c:dPt>
          <c:cat>
            <c:strRef>
              <c:f>Sheet1!$A$2:$A$5</c:f>
              <c:strCache>
                <c:ptCount val="4"/>
                <c:pt idx="0">
                  <c:v>Начало контекста</c:v>
                </c:pt>
                <c:pt idx="1">
                  <c:v>Середина контекста</c:v>
                </c:pt>
                <c:pt idx="2">
                  <c:v>Конец контекста</c:v>
                </c:pt>
                <c:pt idx="3">
                  <c:v>Без документов (closed-book)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75.8</c:v>
                </c:pt>
                <c:pt idx="1">
                  <c:v>53.8</c:v>
                </c:pt>
                <c:pt idx="2">
                  <c:v>63.2</c:v>
                </c:pt>
                <c:pt idx="3">
                  <c:v>56.1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50" b="1">
                  <a:solidFill>
                    <a:srgbClr val="4B556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AF2"/>
              </a:solidFill>
            </a:ln>
          </c:spPr>
        </c:majorGridlines>
        <c:title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5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Медиана, мс</c:v>
                </c:pt>
              </c:strCache>
            </c:strRef>
          </c:tx>
          <c:dPt>
            <c:idx val="0"/>
            <c:spPr>
              <a:solidFill>
                <a:srgbClr val="1F5FEB"/>
              </a:solidFill>
            </c:spPr>
          </c:dPt>
          <c:dPt>
            <c:idx val="1"/>
            <c:spPr>
              <a:solidFill>
                <a:srgbClr val="1F5FEB"/>
              </a:solidFill>
            </c:spPr>
          </c:dPt>
          <c:dPt>
            <c:idx val="2"/>
            <c:spPr>
              <a:solidFill>
                <a:srgbClr val="1F5FEB"/>
              </a:solidFill>
            </c:spPr>
          </c:dPt>
          <c:dPt>
            <c:idx val="3"/>
            <c:spPr>
              <a:solidFill>
                <a:srgbClr val="1F5FEB"/>
              </a:solidFill>
            </c:spPr>
          </c:dPt>
          <c:cat>
            <c:strRef>
              <c:f>Sheet1!$A$2:$A$5</c:f>
              <c:strCache>
                <c:ptCount val="4"/>
                <c:pt idx="0">
                  <c:v>FTS5 (bm25)</c:v>
                </c:pt>
                <c:pt idx="1">
                  <c:v>Метаданные (re-rank)</c:v>
                </c:pt>
                <c:pt idx="2">
                  <c:v>Recall итого (FTS+re-rank)</c:v>
                </c:pt>
                <c:pt idx="3">
                  <c:v>ripgrep по 12 корням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11.35</c:v>
                </c:pt>
                <c:pt idx="1">
                  <c:v>59.51</c:v>
                </c:pt>
                <c:pt idx="2">
                  <c:v>71.41</c:v>
                </c:pt>
                <c:pt idx="3">
                  <c:v>326.75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p95, мс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FTS5 (bm25)</c:v>
                </c:pt>
                <c:pt idx="1">
                  <c:v>Метаданные (re-rank)</c:v>
                </c:pt>
                <c:pt idx="2">
                  <c:v>Recall итого (FTS+re-rank)</c:v>
                </c:pt>
                <c:pt idx="3">
                  <c:v>ripgrep по 12 корням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16.09</c:v>
                </c:pt>
                <c:pt idx="1">
                  <c:v>89.31</c:v>
                </c:pt>
                <c:pt idx="2">
                  <c:v>104.03</c:v>
                </c:pt>
                <c:pt idx="3">
                  <c:v>378.22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50" b="1">
                  <a:solidFill>
                    <a:srgbClr val="4B556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AF2"/>
              </a:solidFill>
            </a:ln>
          </c:spPr>
        </c:majorGridlines>
        <c:title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Recall@10, %</c:v>
                </c:pt>
              </c:strCache>
            </c:strRef>
          </c:tx>
          <c:dPt>
            <c:idx val="0"/>
            <c:spPr>
              <a:solidFill>
                <a:srgbClr val="0F7B4F"/>
              </a:solidFill>
            </c:spPr>
          </c:dPt>
          <c:dPt>
            <c:idx val="1"/>
            <c:spPr>
              <a:solidFill>
                <a:srgbClr val="0F7B4F"/>
              </a:solidFill>
            </c:spPr>
          </c:dPt>
          <c:cat>
            <c:strRef>
              <c:f>Sheet1!$A$2:$A$3</c:f>
              <c:strCache>
                <c:ptCount val="2"/>
                <c:pt idx="0">
                  <c:v>Базовая форма слова</c:v>
                </c:pt>
                <c:pt idx="1">
                  <c:v>Форма с русским окончанием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76.7</c:v>
                </c:pt>
                <c:pt idx="1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4B556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AF2"/>
              </a:solidFill>
            </a:ln>
          </c:spPr>
        </c:majorGridlines>
        <c:title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Медиана, мс</c:v>
                </c:pt>
              </c:strCache>
            </c:strRef>
          </c:tx>
          <c:dPt>
            <c:idx val="0"/>
            <c:spPr>
              <a:solidFill>
                <a:srgbClr val="B46A00"/>
              </a:solidFill>
            </c:spPr>
          </c:dPt>
          <c:dPt>
            <c:idx val="1"/>
            <c:spPr>
              <a:solidFill>
                <a:srgbClr val="B46A00"/>
              </a:solidFill>
            </c:spPr>
          </c:dPt>
          <c:dPt>
            <c:idx val="2"/>
            <c:spPr>
              <a:solidFill>
                <a:srgbClr val="B46A00"/>
              </a:solidFill>
            </c:spPr>
          </c:dPt>
          <c:cat>
            <c:strRef>
              <c:f>Sheet1!$A$2:$A$4</c:f>
              <c:strCache>
                <c:ptCount val="3"/>
                <c:pt idx="0">
                  <c:v>FTS5</c:v>
                </c:pt>
                <c:pt idx="1">
                  <c:v>Метаданные (re-rank)</c:v>
                </c:pt>
                <c:pt idx="2">
                  <c:v>Recall итого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11.35</c:v>
                </c:pt>
                <c:pt idx="1">
                  <c:v>59.51</c:v>
                </c:pt>
                <c:pt idx="2">
                  <c:v>71.41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p95, мс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FTS5</c:v>
                </c:pt>
                <c:pt idx="1">
                  <c:v>Метаданные (re-rank)</c:v>
                </c:pt>
                <c:pt idx="2">
                  <c:v>Recall итого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16.09</c:v>
                </c:pt>
                <c:pt idx="1">
                  <c:v>89.31</c:v>
                </c:pt>
                <c:pt idx="2">
                  <c:v>104.03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4B556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AF2"/>
              </a:solidFill>
            </a:ln>
          </c:spPr>
        </c:majorGridlines>
        <c:title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мс</c:v>
                </c:pt>
              </c:strCache>
            </c:strRef>
          </c:tx>
          <c:dPt>
            <c:idx val="0"/>
            <c:spPr>
              <a:solidFill>
                <a:srgbClr val="B42B1E"/>
              </a:solidFill>
            </c:spPr>
          </c:dPt>
          <c:dPt>
            <c:idx val="1"/>
            <c:spPr>
              <a:solidFill>
                <a:srgbClr val="B42B1E"/>
              </a:solidFill>
            </c:spPr>
          </c:dPt>
          <c:dPt>
            <c:idx val="2"/>
            <c:spPr>
              <a:solidFill>
                <a:srgbClr val="B42B1E"/>
              </a:solidFill>
            </c:spPr>
          </c:dPt>
          <c:dPt>
            <c:idx val="3"/>
            <c:spPr>
              <a:solidFill>
                <a:srgbClr val="B42B1E"/>
              </a:solidFill>
            </c:spPr>
          </c:dPt>
          <c:dPt>
            <c:idx val="4"/>
            <c:spPr>
              <a:solidFill>
                <a:srgbClr val="B42B1E"/>
              </a:solidFill>
            </c:spPr>
          </c:dPt>
          <c:cat>
            <c:strRef>
              <c:f>Sheet1!$A$2:$A$6</c:f>
              <c:strCache>
                <c:ptCount val="5"/>
                <c:pt idx="0">
                  <c:v>Список файлов</c:v>
                </c:pt>
                <c:pt idx="1">
                  <c:v>stat всех страниц</c:v>
                </c:pt>
                <c:pt idx="2">
                  <c:v>Чтение всех страниц</c:v>
                </c:pt>
                <c:pt idx="3">
                  <c:v>readAllPages API</c:v>
                </c:pt>
                <c:pt idx="4">
                  <c:v>reconcile steady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</c:v>
                </c:pt>
                <c:pt idx="1">
                  <c:v>1962</c:v>
                </c:pt>
                <c:pt idx="2">
                  <c:v>4036</c:v>
                </c:pt>
                <c:pt idx="3">
                  <c:v>2709</c:v>
                </c:pt>
                <c:pt idx="4">
                  <c:v>1290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50" b="1">
                  <a:solidFill>
                    <a:srgbClr val="4B556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AF2"/>
              </a:solidFill>
            </a:ln>
          </c:spPr>
        </c:majorGridlines>
        <c:title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5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1005840"/>
            <a:ext cx="5852160" cy="484632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29400" y="1371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7EA8FF"/>
                </a:solidFill>
                <a:latin typeface="Segoe UI"/>
              </a:rPr>
              <a:t>ЖИВОЕ ХРАНИЛИЩЕ НА 09.10.2026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0" y="1874519"/>
            <a:ext cx="5212080" cy="896112"/>
          </a:xfrm>
          <a:prstGeom prst="rect">
            <a:avLst/>
          </a:prstGeom>
          <a:solidFill>
            <a:srgbClr val="0B142A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93391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8FB4FF"/>
                </a:solidFill>
                <a:latin typeface="Segoe UI"/>
              </a:rPr>
              <a:t>877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00253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markdown-страниц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317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D0"/>
                </a:solidFill>
                <a:latin typeface="Segoe UI"/>
              </a:rPr>
              <a:t>12 корней: user + 11 проектов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862072"/>
            <a:ext cx="5212080" cy="896112"/>
          </a:xfrm>
          <a:prstGeom prst="rect">
            <a:avLst/>
          </a:prstGeom>
          <a:solidFill>
            <a:srgbClr val="0B142A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980944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8FB4FF"/>
                </a:solidFill>
                <a:latin typeface="Segoe UI"/>
              </a:rPr>
              <a:t>725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99008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активных записей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3192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D0"/>
                </a:solidFill>
                <a:latin typeface="Segoe UI"/>
              </a:rPr>
              <a:t>152 помечены superseded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3849624"/>
            <a:ext cx="5212080" cy="896112"/>
          </a:xfrm>
          <a:prstGeom prst="rect">
            <a:avLst/>
          </a:prstGeom>
          <a:solidFill>
            <a:srgbClr val="0B142A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96849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8FB4FF"/>
                </a:solidFill>
                <a:latin typeface="Segoe UI"/>
              </a:rPr>
              <a:t>8,1 МБ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FTS5-индекс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306824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D0"/>
                </a:solidFill>
                <a:latin typeface="Segoe UI"/>
              </a:rPr>
              <a:t>источник — 2,33 МБ markdown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4837176"/>
            <a:ext cx="5212080" cy="896112"/>
          </a:xfrm>
          <a:prstGeom prst="rect">
            <a:avLst/>
          </a:prstGeom>
          <a:solidFill>
            <a:srgbClr val="0B142A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956048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8FB4FF"/>
                </a:solidFill>
                <a:latin typeface="Segoe UI"/>
              </a:rPr>
              <a:t>71 мс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96519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p50 recall (200 запросов)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29437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D0"/>
                </a:solidFill>
                <a:latin typeface="Segoe UI"/>
              </a:rPr>
              <a:t>FTS p50 11 мс + re-rank 60 мс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7EA8FF"/>
                </a:solidFill>
                <a:latin typeface="Segoe UI"/>
              </a:rPr>
              <a:t>DeepSeek Harness · плагин 0.1.1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91640"/>
            <a:ext cx="5577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Segoe UI"/>
              </a:rPr>
              <a:t>dsh-llm-memory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06324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900" b="0">
                <a:solidFill>
                  <a:srgbClr val="D8E2F6"/>
                </a:solidFill>
                <a:latin typeface="Segoe UI"/>
              </a:rPr>
              <a:t>Долговременная слоистая память агента: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900" b="0">
                <a:solidFill>
                  <a:srgbClr val="D8E2F6"/>
                </a:solidFill>
                <a:latin typeface="Segoe UI"/>
              </a:rPr>
              <a:t>зачем нужна, что решает, плюсы и минусы с замерами,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900" b="0">
                <a:solidFill>
                  <a:srgbClr val="D8E2F6"/>
                </a:solidFill>
                <a:latin typeface="Segoe UI"/>
              </a:rPr>
              <a:t>сравнение с другими подходами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FB0D0"/>
                </a:solidFill>
                <a:latin typeface="Segoe UI"/>
              </a:rPr>
              <a:t>Хранилище: markdown как источник правды + центральный поиск FTS5 (node:sqlite).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FB0D0"/>
                </a:solidFill>
                <a:latin typeface="Segoe UI"/>
              </a:rPr>
              <a:t>Замеры: WSL2/Arch, Node 24.20.0, /tmp/bench-recall.mjs, /tmp/bench-ops.mjs, scripts/bench-index.mjs.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Контекст сессии конечен, а работа длится месяцами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8064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450" b="0">
                <a:solidFill>
                  <a:srgbClr val="141B27"/>
                </a:solidFill>
                <a:latin typeface="Segoe UI"/>
              </a:rPr>
              <a:t>Контекстное окно — 1 млн токенов, авто-компакция на 50% и 80%: старые договорённости вытесняются, а проект живёт дольше одной сессии.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450" b="0">
                <a:solidFill>
                  <a:srgbClr val="141B27"/>
                </a:solidFill>
                <a:latin typeface="Segoe UI"/>
              </a:rPr>
              <a:t>Каждая сессия стартует «с нуля»: решения, грабли и правила приходится выяснять заново — вопросом пользователю или повторным чтением кода.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450" b="0">
                <a:solidFill>
                  <a:srgbClr val="141B27"/>
                </a:solidFill>
                <a:latin typeface="Segoe UI"/>
              </a:rPr>
              <a:t>Правила «всегда в промпте» дорожают линейно: ~/.dsh/AGENTS.md = 16 199 байт, замер токен-метром DSH — 5 168 токенов в первом же запросе, и файл растёт.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450" b="0">
                <a:solidFill>
                  <a:srgbClr val="141B27"/>
                </a:solidFill>
                <a:latin typeface="Segoe UI"/>
              </a:rPr>
              <a:t>Знание рассеяно: заметки в markdown, решения в чатах, факты в голове пользователя — поиска по ним нет.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350" b="0">
                <a:solidFill>
                  <a:srgbClr val="141B27"/>
                </a:solidFill>
                <a:latin typeface="Segoe UI"/>
              </a:rPr>
              <a:t>Опаснее всего тихо потерянные ограничения: «immutable-правило», «так делать нельзя» — агент нарушает их, не зная.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481328"/>
            <a:ext cx="4892040" cy="2011680"/>
          </a:xfrm>
          <a:prstGeom prst="rect">
            <a:avLst/>
          </a:prstGeom>
          <a:solidFill>
            <a:srgbClr val="FDF3F2"/>
          </a:solidFill>
          <a:ln w="12700">
            <a:solidFill>
              <a:srgbClr val="F2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66420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B42B1E"/>
                </a:solidFill>
                <a:latin typeface="Segoe UI"/>
              </a:rPr>
              <a:t>Как это выглядит в работе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084831"/>
            <a:ext cx="4480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4B5563"/>
                </a:solidFill>
                <a:latin typeface="Segoe UI"/>
              </a:rPr>
              <a:t>«Мы это уже обсуждали, я же говорил»,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4B5563"/>
                </a:solidFill>
                <a:latin typeface="Segoe UI"/>
              </a:rPr>
              <a:t>«в прошлой сессии ты сам это предложил»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Повторный разбор одного и того же — самый дорогой вид потери контекста: время пользователя.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3675887"/>
            <a:ext cx="489204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858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5FEB"/>
                </a:solidFill>
                <a:latin typeface="Segoe UI"/>
              </a:rPr>
              <a:t>Чего не хватает агенту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4224528"/>
            <a:ext cx="4434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Помнить факты о проекте и среде между сессиями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Не повторять вопросы, на которые уже отвечали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Держать правила и запреты как обязательные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Забывать устаревшее, не превращаясь в свалку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Находить нужное за десятки миллисекунд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Источники: ~/.dsh/AGENTS.md (16 199 Б; 5 168 токенов — замер токен-метра DSH, .dsh/plans/audit-20k-tokenov-pervogo-zaprosa-i-agents-md.md); окно 1 млн токенов, компакция 50%/80%.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Почему «просто длинный контекст» не заменяет память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600200"/>
          <a:ext cx="53949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600200"/>
            <a:ext cx="523036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230368" cy="45720"/>
          </a:xfrm>
          <a:prstGeom prst="rect">
            <a:avLst/>
          </a:prstGeom>
          <a:solidFill>
            <a:srgbClr val="B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0256" y="178308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Данные — не мои, из первоисточников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256" y="2203704"/>
            <a:ext cx="481888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Lost in the Middle (arXiv 2307.03172): GPT-3.5-Turbo, 20 документов на входе. Правильный документ в начале — 75,8%, в середине — 53,8%, в конце — 63,2%.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Хуже того: в середине результат (53,8%) ниже, чем вообще без документов (56,1%). Падение — более 20 п.п.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20440"/>
            <a:ext cx="5230368" cy="1874519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520440"/>
            <a:ext cx="5230368" cy="4572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370332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Что это значит для памяти агента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4123944"/>
            <a:ext cx="4818888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Anthropic (context engineering): чем больше токенов в окне, тем хуже модель извлекает из него информацию; контекст — «бюджет внимания», а не бесплатный ресурс.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RAG vs long-context (arXiv 2407.16833): длинный контекст в среднем точнее RAG (+7,6% Gemini-1.5-Pro, +13,1% GPT-4O, +3,6% GPT-3.5), но дороже; Self-Route экономит 39% (GPT-4O) и 65% (Gemini) токенов почти без потери качества.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Вывод: держать знание в хранилище и подмешивать десяток нужных записей выгоднее, чем загружать всё сразу.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Ссылки: arxiv.org/abs/2307.03172 (результаты — Table 6, GPT-3.5-Turbo, 20 документов) · arxiv.org/abs/2407.16833 · anthropic.com/engineering/effective-context-engineering-for-ai-agents.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Что даёт плагин: шесть требований и как они закрыты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1106423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6346"/>
                <a:gridCol w="5594278"/>
                <a:gridCol w="2983615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Требование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Как закрыто в dsh-llm-memory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Проверяется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Переживать сессии и проекты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markdown-страницы: &lt;project&gt;/.dsh/llm-memory/&lt;kind&gt;/ и ~/.dsh/llm-memory/_user/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877 страниц в 12 корнях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Быстрый поиск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Центральный FTS5-индекс (bm25) + метаданные (свежесть, важность, tier, kind, scope)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recall p50 71 мс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Модель сама пишет и чистит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7 инструментов llm_memory_* + инструкции в системном промпте; автономно, без подтверждений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2,2k токенов инжекта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Правила обязательны, а не «к сведению»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tier normal/important/immutable + экспорт правил в AGENTS.md и дайджест топ-10 правил в промпт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49 активных rules/preferences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Не копить противоречия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forget / supersede: старая запись помечается забытой, конфликтов не остаётся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152 superseded, 0 битых ссылок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Объяснимость и переносимость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Человекочитаемые md, WebUI-панель в оболочке dsh, импорт из kilo-memory, dsh-mnemon, dsh-memory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импорт идемпотентен по extKey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Источник: README.ru.md, src/core/*, src/dsh/tools.ts; цифры — замеры 09.10.2026 (см. приложение).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УСТРОЙСТВО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Архитектура: markdown — источник правды, FTS5 — производный индекс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214884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2148840" cy="54864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F5FEB"/>
                </a:solidFill>
                <a:latin typeface="Segoe UI"/>
              </a:rPr>
              <a:t>ЗАПИСЬ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>
                <a:solidFill>
                  <a:srgbClr val="141B27"/>
                </a:solidFill>
                <a:latin typeface="Segoe UI"/>
              </a:rPr>
              <a:t>llm_memory_save
upsert / forget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2724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md-страница пишется
атомарно на диск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691640"/>
            <a:ext cx="214884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691640"/>
            <a:ext cx="2148840" cy="54864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87451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B4F"/>
                </a:solidFill>
                <a:latin typeface="Segoe UI"/>
              </a:rPr>
              <a:t>ХРАНИЛИЩЕ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945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>
                <a:solidFill>
                  <a:srgbClr val="141B27"/>
                </a:solidFill>
                <a:latin typeface="Segoe UI"/>
              </a:rPr>
              <a:t>markdown-страницы
&lt;project&gt; + _user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12724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877 файлов,
2,33 МБ, avg 2,7 КБ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93792" y="1691640"/>
            <a:ext cx="214884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93792" y="1691640"/>
            <a:ext cx="2148840" cy="54864"/>
          </a:xfrm>
          <a:prstGeom prst="rect">
            <a:avLst/>
          </a:prstGeom>
          <a:solidFill>
            <a:srgbClr val="14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187451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4337A"/>
                </a:solidFill>
                <a:latin typeface="Segoe UI"/>
              </a:rPr>
              <a:t>ИНДЕКС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21945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>
                <a:solidFill>
                  <a:srgbClr val="141B27"/>
                </a:solidFill>
                <a:latin typeface="Segoe UI"/>
              </a:rPr>
              <a:t>FTS5 на node:sqlite
bm25 + метаданные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12724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8,13 МБ, 725 активных
обновление инкрементальное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07224" y="1691640"/>
            <a:ext cx="214884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07224" y="1691640"/>
            <a:ext cx="2148840" cy="54864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87451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B46A00"/>
                </a:solidFill>
                <a:latin typeface="Segoe UI"/>
              </a:rPr>
              <a:t>ДОСТАВКА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21945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>
                <a:solidFill>
                  <a:srgbClr val="141B27"/>
                </a:solidFill>
                <a:latin typeface="Segoe UI"/>
              </a:rPr>
              <a:t>7 инструментов
llm_memory_*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312724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recall / save / forget /
delete / status / lint / heal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0656" y="1691640"/>
            <a:ext cx="214884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0656" y="1691640"/>
            <a:ext cx="2148840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3536" y="187451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6B7280"/>
                </a:solidFill>
                <a:latin typeface="Segoe UI"/>
              </a:rPr>
              <a:t>ПОТРЕБИТЕЛИ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1945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>
                <a:solidFill>
                  <a:srgbClr val="141B27"/>
                </a:solidFill>
                <a:latin typeface="Segoe UI"/>
              </a:rPr>
              <a:t>системный промпт,
WebUI,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312724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2,2k токенов всегда
+ поиск по запросу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34056" y="265176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9C4D8"/>
                </a:solidFill>
                <a:latin typeface="Segoe UI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265176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9C4D8"/>
                </a:solidFill>
                <a:latin typeface="Segoe UI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65176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9C4D8"/>
                </a:solidFill>
                <a:latin typeface="Segoe UI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65176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9C4D8"/>
                </a:solidFill>
                <a:latin typeface="Segoe UI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20624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Нет обязательного внешнего API: индекс локальный, FTS5 из node:sqlite, нулевая стоимость на запрос.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Индекс производный — его можно снести и восстановить из markdown (heal/reconcile), данные не теряются.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Слои видимости: recall по умолчанию = проект сессии + кросс-проектный слой user; чужие проекты скрыты.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Страницу можно править руками: reconcile подхватывает изменённый файл по mtime/size (0 перечитываний в steady-state).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Источник: src/core/store.ts (FTS5, unicode61, bm25), src/core/engine.ts (recall/rulesForPrompt), src/dsh/context.ts; замеры 09.10.2026.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УСТРОЙСТВО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Жизненный цикл: запомнить вовремя, найти к месту, забыть устаревшее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761488" cy="2926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2761488" cy="54864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5FEB"/>
                </a:solidFill>
                <a:latin typeface="Segoe UI"/>
              </a:rPr>
              <a:t>1.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39696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Перед ответом о фактах, решениях, предпочтениях — сначала поиск в памяти.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3767328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40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5FEB"/>
                </a:solidFill>
                <a:latin typeface="Segoe UI"/>
              </a:rPr>
              <a:t>71 мс p50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6432" y="1554480"/>
            <a:ext cx="2761488" cy="2926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554480"/>
            <a:ext cx="2761488" cy="54864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F7B4F"/>
                </a:solidFill>
                <a:latin typeface="Segoe UI"/>
              </a:rPr>
              <a:t>2. SAVE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139696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Сразу после вехи: факт, решение с обоснованием, правило, грабли. Ждать просьбы нельзя.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5888" y="3767328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5616" y="3840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F7B4F"/>
                </a:solidFill>
                <a:latin typeface="Segoe UI"/>
              </a:rPr>
              <a:t>0,28 мс p50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5936" y="1554480"/>
            <a:ext cx="2761488" cy="2926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554480"/>
            <a:ext cx="2761488" cy="54864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46A00"/>
                </a:solidFill>
                <a:latin typeface="Segoe UI"/>
              </a:rPr>
              <a:t>3. FORGET / SUPERSEDE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139696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Решение изменилось — старая запись помечается forgotten или superseded, противоречий не остаётся.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5392" y="3767328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840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B46A00"/>
                </a:solidFill>
                <a:latin typeface="Segoe UI"/>
              </a:rPr>
              <a:t>152 записи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554480"/>
            <a:ext cx="2761488" cy="2926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554480"/>
            <a:ext cx="2761488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4896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Segoe UI"/>
              </a:rPr>
              <a:t>4. LINT / HEAL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139696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Проверка здоровья: битые связи, пересечения, устаревшее; переиндексация изменённых страниц.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54896" y="3767328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3840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Segoe UI"/>
              </a:rPr>
              <a:t>832 / 873 мс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709160"/>
            <a:ext cx="11064240" cy="1234440"/>
          </a:xfrm>
          <a:prstGeom prst="rect">
            <a:avLst/>
          </a:prstGeom>
          <a:solidFill>
            <a:srgbClr val="EFF4FF"/>
          </a:solidFill>
          <a:ln w="12700">
            <a:solidFill>
              <a:srgbClr val="C9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6460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4337A"/>
                </a:solidFill>
                <a:latin typeface="Segoe UI"/>
              </a:rPr>
              <a:t>Автономность по умолчанию включена (autonomous: true, requireConfirmation: false)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578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Агент сам сохраняет, повышает tier (normal → important → immutable), помечает устаревшее забытым и удаляет — и отчитывается о том, что изменил.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Источники: src/core/config.ts (DEFAULT_SYSTEM_PROMPT, autonomous/requireConfirmation), /tmp/bench-ops.mjs (upsert/delete, lintReport, graph).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УСТРОЙСТВО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Модель записи: kind, scope, tier, importance и связи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6858000" cy="370332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82495"/>
            <a:ext cx="64922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kind:        rules | preferences | decisions | facts | architecture | concepts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scope:       project | user          tier: normal | important | immutable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importance:  1..5                    status: active | superseded | forgotten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relations:   supersedes · supersededBy · related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─────────────── _user/rules/app-text-vne-composable-a1b2c3.md ──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---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id: m_4d1e9f77c0a2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title: BookShelf: текст вне Composable — AppText из core:designsystem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kind: rules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tier: important          importance: 4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keywords: локализация, AppText, Compose, вне Composable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supersedes: [m_8f3c1a55de01]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---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Текст, рождающийся вне Composable (ViewModel, чистые функции), обязан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>
                <a:solidFill>
                  <a:srgbClr val="D6E2FF"/>
                </a:solidFill>
                <a:latin typeface="Consolas"/>
              </a:rPr>
              <a:t>идти через AppText (ресурс + аргументы) из core:designsystem.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536192"/>
            <a:ext cx="399592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536192"/>
            <a:ext cx="3995928" cy="4572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719072"/>
            <a:ext cx="3584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Слои и категории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139696"/>
            <a:ext cx="35844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user 139 записей — кросс-проектные правила и предпочтения.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project 738 — внутри репозитория, 11 ключей-проектов.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facts 521 · architecture 176 · decisions 113 · preferences 29 · rules 26 · concepts 12.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3456432"/>
            <a:ext cx="399592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3456432"/>
            <a:ext cx="3995928" cy="4572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54696" y="3639312"/>
            <a:ext cx="35844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0F7B4F"/>
                </a:solidFill>
                <a:latin typeface="Segoe UI"/>
              </a:rPr>
              <a:t>Зачем tier и важность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4059935"/>
            <a:ext cx="35844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immutable — правило, которое нельзя ослаблять; попадает в промпт первым.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important — переживает очистку; normal — обычное знание.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importance 1–5 и свежесть влияют на ранг в recall.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Источники: src/core/types.ts (kind/scope/tier/status), src/core/ranking.ts, src/core/frontmatter.ts; цифры — замер 09.10.2026.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УСТРОЙСТВО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Где это лежит и сколько стоит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2761488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137160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1F5FEB"/>
                </a:solidFill>
                <a:latin typeface="Segoe UI"/>
              </a:rPr>
              <a:t>877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markdown-страниц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3230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12 корней: _user + 11 проектов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1481328"/>
            <a:ext cx="2761488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481328"/>
            <a:ext cx="50292" cy="137160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1618488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0F7B4F"/>
                </a:solidFill>
                <a:latin typeface="Segoe UI"/>
              </a:rPr>
              <a:t>2,33 МБ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4" y="2103120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исходный markdown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243230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средняя страница 2 658 байт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5936" y="1481328"/>
            <a:ext cx="2761488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5936" y="1481328"/>
            <a:ext cx="50292" cy="1371600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1618488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B46A00"/>
                </a:solidFill>
                <a:latin typeface="Segoe UI"/>
              </a:rPr>
              <a:t>8,13 МБ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103120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FTS5-индекс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43230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3,5× от источника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481328"/>
            <a:ext cx="2761488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481328"/>
            <a:ext cx="50292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91472" y="1618488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6B7280"/>
                </a:solidFill>
                <a:latin typeface="Segoe UI"/>
              </a:rPr>
              <a:t>3,4 МБ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103120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дайджесты сессий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432304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130 файлов в _digest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6928" y="3035808"/>
          <a:ext cx="11064238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4646980"/>
                <a:gridCol w="3983126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Что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Где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Размер / сколько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Проектные записи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&lt;projectRoot&gt;/.dsh/llm-memory/&lt;kind&gt;/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738 записей, 8 корней WSL + 3 Linux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Кросс-проектные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~/.dsh/llm-memory/_user/&lt;kind&gt;/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139 записей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Индекс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~/.dsh/llm-memory/_db/memory.db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memories 2,84 МБ + FTS 4,13 МБ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Дайджесты сессий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~/.dsh/llm-memory/_digest/&lt;id&gt;.md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3,4 МБ, 130 файлов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Журнал операций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~/.dsh/llm-memory/log.md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444 КБ (upsert/delete audit trail)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Источник: du/stat живого хранилища и dbstat по копии memory.db, 09.10.2026.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7EA8FF"/>
                </a:solidFill>
                <a:latin typeface="Segoe UI"/>
              </a:rP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Плюсы: что подтверждается замерами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D0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Скорость поиска: 71 мс p50 при 877 страницах — </a:t>
            </a:r>
            <a:r>
              <a:rPr sz="1350" b="0">
                <a:solidFill>
                  <a:srgbClr val="C2CEE6"/>
                </a:solidFill>
                <a:latin typeface="Segoe UI"/>
              </a:rPr>
              <a:t>FTS 11,4 мс + метаданные 59,5 мс; ripgrep по тем же корням — 327 мс p50.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Точность на своих запросах: Recall@1 = 92,5% — </a:t>
            </a:r>
            <a:r>
              <a:rPr sz="1350" b="0">
                <a:solidFill>
                  <a:srgbClr val="C2CEE6"/>
                </a:solidFill>
                <a:latin typeface="Segoe UI"/>
              </a:rPr>
              <a:t>200 запросов-заголовков: Recall@10 = 100%, MRR = 0,954.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Контекст дешевле в 81 раз — </a:t>
            </a:r>
            <a:r>
              <a:rPr sz="1350" b="0">
                <a:solidFill>
                  <a:srgbClr val="C2CEE6"/>
                </a:solidFill>
                <a:latin typeface="Segoe UI"/>
              </a:rPr>
              <a:t>Корпус 2,33 МБ (≈0,6–0,8 млн токенов) против 28,8 КБ в выдаче top-10 (≈7–9k токенов).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Стоимость владения: 0 ₽ за запрос — </a:t>
            </a:r>
            <a:r>
              <a:rPr sz="1350" b="0">
                <a:solidFill>
                  <a:srgbClr val="C2CEE6"/>
                </a:solidFill>
                <a:latin typeface="Segoe UI"/>
              </a:rPr>
              <a:t>Локальный FTS5, без embedding-API и облака; только диск и CPU.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Запись почти бесплатна: 0,28 мс p50 — </a:t>
            </a:r>
            <a:r>
              <a:rPr sz="1350" b="0">
                <a:solidFill>
                  <a:srgbClr val="C2CEE6"/>
                </a:solidFill>
                <a:latin typeface="Segoe UI"/>
              </a:rPr>
              <a:t>upsert 0,28 / delete 0,12 / get 0,02 мс; страница — отдельный файл.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Данные читаемы и переносимы — </a:t>
            </a:r>
            <a:r>
              <a:rPr sz="1350" b="0">
                <a:solidFill>
                  <a:srgbClr val="C2CEE6"/>
                </a:solidFill>
                <a:latin typeface="Segoe UI"/>
              </a:rPr>
              <a:t>markdown + frontmatter: greppable, git-diffable, без vendor lock-in.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Дисциплина вместо свалки — </a:t>
            </a:r>
            <a:r>
              <a:rPr sz="1350" b="0">
                <a:solidFill>
                  <a:srgbClr val="C2CEE6"/>
                </a:solidFill>
                <a:latin typeface="Segoe UI"/>
              </a:rPr>
              <a:t>152 записи помечены superseded, 0 битых ссылок, 15 пересечений — ловится lint.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E9CBE"/>
                </a:solidFill>
                <a:latin typeface="Segoe UI"/>
              </a:rPr>
              <a:t>Замеры 09.10.2026: /tmp/bench-recall.mjs, /tmp/bench-ops.mjs, scripts/bench-index.mjs (метод — в приложении).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ЗАМЕР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Плюс 1: поиск быстрее, чем grep, на два порядка по смыслу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600200"/>
          <a:ext cx="66751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600200"/>
            <a:ext cx="3904487" cy="1874519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600200"/>
            <a:ext cx="3904487" cy="4572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46136" y="1783080"/>
            <a:ext cx="3493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Что именно замерено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6136" y="2203704"/>
            <a:ext cx="3493007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200 реальных запросов = заголовки записей живого хранилища.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Хранилище: 877 страниц, 725 активных, 12 корней.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ripgrep — те же запросы по тем же корням, 12 процессов-корней.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3611880"/>
            <a:ext cx="3904487" cy="19202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3611880"/>
            <a:ext cx="3904487" cy="4572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46136" y="3794760"/>
            <a:ext cx="3493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0F7B4F"/>
                </a:solidFill>
                <a:latin typeface="Segoe UI"/>
              </a:rPr>
              <a:t>Почему это важно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6136" y="4215384"/>
            <a:ext cx="349300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71 мс — незаметно для человека и дешевле одного лишнего вопроса.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ripgrep возвращает файлы, а не ранжированные записи: нужен ещё проход чтения и ранжирования.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4B5563"/>
                </a:solidFill>
                <a:latin typeface="Segoe UI"/>
              </a:rPr>
              <a:t>Полный скан в памяти быстр (0,5 мс), но требует 3,6 с на загрузку корпуса в каждый процесс.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Замер 09.10.2026, /tmp/bench-recall.mjs; узкое место recall — пере-ранжирование, ему посвящён слайд «Минус 2».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ЗАМЕР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Плюс 2: на своих запросах память находит нужное почти всегда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788920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0292" cy="160020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1F5FEB"/>
                </a:solidFill>
                <a:latin typeface="Segoe UI"/>
              </a:rPr>
              <a:t>92,5%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Recall@1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нужная запись сразу первая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1554480"/>
            <a:ext cx="2788920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554480"/>
            <a:ext cx="50292" cy="160020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0F7B4F"/>
                </a:solidFill>
                <a:latin typeface="Segoe U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Recall@10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всегда в первой десятке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376" y="1554480"/>
            <a:ext cx="2788920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1554480"/>
            <a:ext cx="50292" cy="160020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1F5FEB"/>
                </a:solidFill>
                <a:latin typeface="Segoe UI"/>
              </a:rPr>
              <a:t>0,954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MRR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средняя позиция ≈1,05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554480"/>
            <a:ext cx="2258568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554480"/>
            <a:ext cx="50292" cy="16002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1691639"/>
            <a:ext cx="1801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6B7280"/>
                </a:solidFill>
                <a:latin typeface="Segoe UI"/>
              </a:rP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176272"/>
            <a:ext cx="180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запросов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505456"/>
            <a:ext cx="1801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синтетика по заголовкам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429000"/>
            <a:ext cx="6263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Метод: для 200 активных записей запросом служит её собственный заголовок; считаем позицию нужной записи в выдаче.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250" b="0">
                <a:solidFill>
                  <a:srgbClr val="141B27"/>
                </a:solidFill>
                <a:latin typeface="Segoe UI"/>
              </a:rPr>
              <a:t>Это верхняя граница: заголовок проиндексирован в поле title и усиливается bm25 — реальные формулировки пользователя слабее.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Аргумент против «память не находит» — на своих, уже сохранённых формулировках поиск работает предсказуемо.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Ранжирование объяснимо: bm25 + свежесть (полураспад 90 дней) + importance + tier + kind + scope, а не «магия эмбеддингов».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250" b="0">
                <a:solidFill>
                  <a:srgbClr val="141B27"/>
                </a:solidFill>
                <a:latin typeface="Segoe UI"/>
              </a:rPr>
              <a:t>Провалы предсказуемы и лечатся формулировкой записи (keywords, синонимы) — см. «Минус 1».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3429000"/>
            <a:ext cx="4453128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78040" y="3429000"/>
            <a:ext cx="4453128" cy="45720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7496" y="3611880"/>
            <a:ext cx="4041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6A00"/>
                </a:solidFill>
                <a:latin typeface="Segoe UI"/>
              </a:rPr>
              <a:t>Для сравнения: чистая лексика без индекса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4032504"/>
            <a:ext cx="4041648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Полный скан всех страниц в памяти: Recall@10 = 100% на тех же запросах (точное совпадение слов), p50 0,51 мс.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Но: нет bm25-взвешивания, нет метарранжирования, и корпус надо сначала прочитать (3,6 с) и держать в RAM.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grep/ripgrep вообще не ранжирует: отдаёт файлы в порядке обхода.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Замер 09.10.2026, /tmp/bench-recall.mjs (раздел quality и baseline full-scan).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ЗАМЕР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Плюс 3: ≈0,6–0,8 млн токенов знания — при ≈7–9k токенов в ответе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0292" cy="146304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1F5FEB"/>
                </a:solidFill>
                <a:latin typeface="Segoe UI"/>
              </a:rPr>
              <a:t>≈0,6–0,8M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токенов во всём корпусе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2,33 МБ markdown, 877 страниц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155448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554480"/>
            <a:ext cx="50292" cy="146304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0F7B4F"/>
                </a:solidFill>
                <a:latin typeface="Segoe UI"/>
              </a:rPr>
              <a:t>≈7–9k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токенов в выдаче top-10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28,8 КБ отрендеренного markdown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376" y="155448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1554480"/>
            <a:ext cx="50292" cy="146304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0F7B4F"/>
                </a:solidFill>
                <a:latin typeface="Segoe UI"/>
              </a:rPr>
              <a:t>81×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сжатие по контексту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платим только за релевантное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554480"/>
            <a:ext cx="2258568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554480"/>
            <a:ext cx="50292" cy="146304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1691639"/>
            <a:ext cx="1801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1F5FEB"/>
                </a:solidFill>
                <a:latin typeface="Segoe UI"/>
              </a:rPr>
              <a:t>≈2,2–2,8k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176272"/>
            <a:ext cx="180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токенов всё время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505456"/>
            <a:ext cx="1801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8 777 Б инжектируемой секции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6928" y="3246120"/>
          <a:ext cx="1106423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3319272"/>
                <a:gridCol w="4204411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Подход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Токенов в промпте на каждый запрос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Что попадает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Always-on AGENTS.md (export rules)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5,2k постоянно (16 199 Б)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все правила целиком, независимо от вопроса; замер токен-метром DSH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dsh-llm-memory: секция промпта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≈2,2–2,8k постоянно (8 777 Б)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инструкции + дайджест топ-10 правил из 49 активных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dsh-llm-memory: recall по запросу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+7–9k по требованию (28,8 КБ)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B27"/>
                          </a:solidFill>
                          <a:latin typeface="Segoe UI"/>
                        </a:rPr>
                        <a:t>10 ранжированных записей по теме вопроса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6928" y="512064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00" b="0">
                <a:solidFill>
                  <a:srgbClr val="141B27"/>
                </a:solidFill>
                <a:latin typeface="Segoe UI"/>
              </a:rPr>
              <a:t>Рекомендуемая экономия: не тащить весь корпус в контекст, а платить за релевантную десятку.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1F5FEB"/>
                </a:solidFill>
                <a:latin typeface="Segoe UI"/>
              </a:rPr>
              <a:t>–  </a:t>
            </a:r>
            <a:r>
              <a:rPr sz="1200" b="0">
                <a:solidFill>
                  <a:srgbClr val="141B27"/>
                </a:solidFill>
                <a:latin typeface="Segoe UI"/>
              </a:rPr>
              <a:t>Дайджест правил собирается из rankRulesBase: tier и важность важнее свежести; порог — recallLimit = 10.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00" b="0">
                <a:solidFill>
                  <a:srgbClr val="141B27"/>
                </a:solidFill>
                <a:latin typeface="Segoe UI"/>
              </a:rPr>
              <a:t>Токены считаны двумя способами: байты/4 (нижняя граница для английского) и по факту: 16 199 Б AGENTS.md = 5 168 токенов, то есть ≈3,1 байта на токен для русского текста.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Замер 09.10.2026: размеры markdown, renderRecall(top-10), rulesForPrompt(); токены — оценка байты/4 и фактический замер токен-метром DSH (16 199 Б = 5 168 токенов).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ЗАМЕР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Плюс 4: запись дешёвая, данные не заперты в БД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0292" cy="146304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0F7B4F"/>
                </a:solidFill>
                <a:latin typeface="Segoe UI"/>
              </a:rPr>
              <a:t>0,28 мс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upsert p50 (p95 0,49)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md-страница + FTS-обновление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155448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554480"/>
            <a:ext cx="50292" cy="146304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0F7B4F"/>
                </a:solidFill>
                <a:latin typeface="Segoe UI"/>
              </a:rPr>
              <a:t>0,12 мс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delete p50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страница + индекс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376" y="155448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1554480"/>
            <a:ext cx="50292" cy="146304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1691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1F5FEB"/>
                </a:solidFill>
                <a:latin typeface="Segoe UI"/>
              </a:rPr>
              <a:t>26 мс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1762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statusReport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505456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877 записей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554480"/>
            <a:ext cx="2258568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554480"/>
            <a:ext cx="50292" cy="146304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1691639"/>
            <a:ext cx="1801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1F5FEB"/>
                </a:solidFill>
                <a:latin typeface="Segoe UI"/>
              </a:rPr>
              <a:t>15,2 мс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176272"/>
            <a:ext cx="180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Segoe UI"/>
              </a:rPr>
              <a:t>rulesForPrompt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505456"/>
            <a:ext cx="1801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дайджест для промпта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383280"/>
            <a:ext cx="11064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Стоимость сохранения знания — микросекунды: агент может писать память щедро, не экономя на важном.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Страница = отдельный файл с frontmatter: читается любым редактором, диффится в git, восстанавливается при потере индекса.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250" b="0">
                <a:solidFill>
                  <a:srgbClr val="141B27"/>
                </a:solidFill>
                <a:latin typeface="Segoe UI"/>
              </a:rPr>
              <a:t>Если FTS5 недоступен, поиск деградирует до LIKE по полям, но данные и API остаются рабочими.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350" b="0">
                <a:solidFill>
                  <a:srgbClr val="141B27"/>
                </a:solidFill>
                <a:latin typeface="Segoe UI"/>
              </a:rPr>
              <a:t>Индекс можно снести: heal/reconcile пересоберёт его из markdown; в steady-state перечитывается 0 страниц из 877.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250" b="0">
                <a:solidFill>
                  <a:srgbClr val="141B27"/>
                </a:solidFill>
                <a:latin typeface="Segoe UI"/>
              </a:rPr>
              <a:t>Audit trail: log.md фиксирует upsert/delete (444 КБ истории операций).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Замер 09.10.2026, /tmp/bench-ops.mjs (120 upsert/get/delete на временном корне) + bench-index reconcile.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7EA8FF"/>
                </a:solidFill>
                <a:latin typeface="Segoe UI"/>
              </a:rPr>
              <a:t>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Минусы и ограничения: тоже с цифрами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D0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1106424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Лексический поиск без морфологии — </a:t>
            </a:r>
            <a:r>
              <a:rPr sz="1250" b="0">
                <a:solidFill>
                  <a:srgbClr val="C2CEE6"/>
                </a:solidFill>
                <a:latin typeface="Segoe UI"/>
              </a:rPr>
              <a:t>Запрос в другой словоформе находит нужное в 0% случаев против 76,7% для базовой формы (60 кейсов, RU).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Синонимы и парафразы проваливаются — </a:t>
            </a:r>
            <a:r>
              <a:rPr sz="1250" b="0">
                <a:solidFill>
                  <a:srgbClr val="C2CEE6"/>
                </a:solidFill>
                <a:latin typeface="Segoe UI"/>
              </a:rPr>
              <a:t>«зависание интерфейса» (ANR), «кэширование зависимостей» (pnpm store), «шрифты и набор текста» — релевантных попаданий нет.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B46A00"/>
                </a:solidFill>
                <a:latin typeface="Segoe UI"/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Пере-ранжирование съедает 83% времени recall — </a:t>
            </a:r>
            <a:r>
              <a:rPr sz="1250" b="0">
                <a:solidFill>
                  <a:srgbClr val="C2CEE6"/>
                </a:solidFill>
                <a:latin typeface="Segoe UI"/>
              </a:rPr>
              <a:t>p50 итого 71 мс, из них 59,5 мс — метаданные поверх до 300+ кандидатов, без капа на число кандидатов.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B46A00"/>
                </a:solidFill>
                <a:latin typeface="Segoe UI"/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Индекс в 3,5× больше источника — </a:t>
            </a:r>
            <a:r>
              <a:rPr sz="1250" b="0">
                <a:solidFill>
                  <a:srgbClr val="C2CEE6"/>
                </a:solidFill>
                <a:latin typeface="Segoe UI"/>
              </a:rPr>
              <a:t>8,13 МБ БД против 2,33 МБ markdown; 4,13 МБ — таблицы FTS5.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Медленные монтирования бьют по старту — </a:t>
            </a:r>
            <a:r>
              <a:rPr sz="1250" b="0">
                <a:solidFill>
                  <a:srgbClr val="C2CEE6"/>
                </a:solidFill>
                <a:latin typeface="Segoe UI"/>
              </a:rPr>
              <a:t>stat 1 962 мс на 877 файлов, из них 1 950 мс — два корня WSL /mnt/c (323 файла, 37%).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6B7280"/>
                </a:solidFill>
                <a:latin typeface="Segoe UI"/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Служебные операции не бесплатны — </a:t>
            </a:r>
            <a:r>
              <a:rPr sz="1250" b="0">
                <a:solidFill>
                  <a:srgbClr val="C2CEE6"/>
                </a:solidFill>
                <a:latin typeface="Segoe UI"/>
              </a:rPr>
              <a:t>lint 832 мс, graph 873 мс на 725 активных записях — только по явному запросу, не в каждом recall.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6B7280"/>
                </a:solidFill>
                <a:latin typeface="Segoe UI"/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Синхронный sqlite и один владелец — </a:t>
            </a:r>
            <a:r>
              <a:rPr sz="1250" b="0">
                <a:solidFill>
                  <a:srgbClr val="C2CEE6"/>
                </a:solidFill>
                <a:latin typeface="Segoe UI"/>
              </a:rPr>
              <a:t>node:sqlite синхронный; несколько процессов dsh могут затирать одно состояние — держите один.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6B7280"/>
                </a:solidFill>
                <a:latin typeface="Segoe UI"/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Рост мусора без дисциплины — </a:t>
            </a:r>
            <a:r>
              <a:rPr sz="1250" b="0">
                <a:solidFill>
                  <a:srgbClr val="C2CEE6"/>
                </a:solidFill>
                <a:latin typeface="Segoe UI"/>
              </a:rPr>
              <a:t>log.md 444 КБ, дайджесты 3,4 МБ/130 файлов; отсутствие access-счётчика (вес acc = 0) — часто нужное не поднимается выше.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E9CBE"/>
                </a:solidFill>
                <a:latin typeface="Segoe UI"/>
              </a:rPr>
              <a:t>Замеры 09.10.2026: /tmp/bench-recall.mjs (морфология, кандидаты, re-rank), scripts/bench-index.mjs (/mnt/c), dbstat, du.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РАЗБОР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Минус 1: поиск лексический — словоформы и синонимы теряются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645920"/>
          <a:ext cx="48463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852160" y="1645920"/>
            <a:ext cx="577900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5779008" cy="45720"/>
          </a:xfrm>
          <a:prstGeom prst="rect">
            <a:avLst/>
          </a:prstGeom>
          <a:solidFill>
            <a:srgbClr val="B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71616" y="1828800"/>
            <a:ext cx="5367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Как воспроизведено (60 кейсов)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49424"/>
            <a:ext cx="5367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Берём длинное русское слово из заголовка записи и ищем по нему: базовая форма против формы с естественным окончанием (-ами, -ого, -иями, -ение, -ов).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Причина: tokenize + FTS5 unicode61 без лемматизации; MATCH строится как префиксные запросы «термин*» — префикс шире запроса не совпадает.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3611880"/>
            <a:ext cx="577900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3611880"/>
            <a:ext cx="5779008" cy="45720"/>
          </a:xfrm>
          <a:prstGeom prst="rect">
            <a:avLst/>
          </a:prstGeom>
          <a:solidFill>
            <a:srgbClr val="B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1616" y="3794760"/>
            <a:ext cx="5367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Провальные синонимы (реальные запросы)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4215384"/>
            <a:ext cx="5367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«зависание интерфейса» → нужно про ANR: выдача 3 записи, ни одной релевантной.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«кэширование зависимостей» → нужно про pnpm store: 3 записи, релевантных нет.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«уведомлять о готовности» → нужно про notify: нашлось 2 записи, обе не о том.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Замер 09.10.2026, /tmp/bench-recall.mjs (разделы morphology и probes); unicode61 — src/core/store.ts:439.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РАЗБОР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Минус 2: узкое место — пере-ранжирование и размер индекса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645920"/>
          <a:ext cx="58521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0" y="1645920"/>
            <a:ext cx="477316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645920"/>
            <a:ext cx="4773168" cy="45720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7456" y="1828800"/>
            <a:ext cx="43616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6A00"/>
                </a:solidFill>
                <a:latin typeface="Segoe UI"/>
              </a:rPr>
              <a:t>Почему re-rank такой дорогой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456" y="2249424"/>
            <a:ext cx="436168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Кандидатов от FTS — медиана 300 на запрос (в 164 из 200 запросов упёрлись в мой кап 300; в плагине капа нет вообще).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Score считает вхождения каждого термина в title+text+keywords+tags через includes() по полному тексту: ~2,7 КБ × 300 кандидатов × термины.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611880"/>
            <a:ext cx="477316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3611880"/>
            <a:ext cx="4773168" cy="45720"/>
          </a:xfrm>
          <a:prstGeom prst="rect">
            <a:avLst/>
          </a:prstGeom>
          <a:solidFill>
            <a:srgbClr val="B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7456" y="3794760"/>
            <a:ext cx="43616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Индекс тяжелее источника в 3,5 раза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4215384"/>
            <a:ext cx="436168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memories 2,84 МБ + memories_fts_content 2,52 МБ + memories_fts_data 1,61 МБ = 8,13 МБ при 2,33 МБ markdown.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Лечится: кап кандидатов, предварительный дешёвый отбор, вынос длинного text из re-rank, оптимизация FTS (contentless/vocab).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Замер 09.10.2026: /tmp/bench-recall.mjs (candidates, latencyMs), dbstat по копии memory.db; src/core/ranking.ts:42-50.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РАЗБОР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Минус 3: цена старта и медленных монтирований (WSL /mnt/c)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645920"/>
          <a:ext cx="60350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995160" y="1645920"/>
            <a:ext cx="463600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645920"/>
            <a:ext cx="4636008" cy="45720"/>
          </a:xfrm>
          <a:prstGeom prst="rect">
            <a:avLst/>
          </a:prstGeom>
          <a:solidFill>
            <a:srgbClr val="B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14616" y="1828800"/>
            <a:ext cx="4224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Источник стоимости — 9p, а не парсинг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4616" y="2249424"/>
            <a:ext cx="4224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Два корня на /mnt/c: 323 файла (37%), но stat 1 950 мс из 1 962 мс и read 2 227 мс из 4 036 мс.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decode всех 877 страниц — 16 мс. То есть платим за файловые операции, а не за разбор markdown.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3611880"/>
            <a:ext cx="4636008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3611880"/>
            <a:ext cx="4636008" cy="4572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6" y="3794760"/>
            <a:ext cx="4224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0F7B4F"/>
                </a:solidFill>
                <a:latin typeface="Segoe UI"/>
              </a:rPr>
              <a:t>Смягчение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4616" y="4215384"/>
            <a:ext cx="4224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Инкрементальный reconcile: 877 просканировано, 0 перечитано, 1 290 мс по stat+mtime.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Полная пересборка (3,6 с) нужна только при потере индекса или первом запуске.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Практика: хранить память в Linux-ФС (в проектах под /home) и не держать проекты на /mnt/c.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Замер 09.10.2026: scripts/bench-index.mjs --json по живому корню (877 страниц, 12 корней).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Пример «до/после»: правило, которое нельзя нарушать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5349240" cy="4480560"/>
          </a:xfrm>
          <a:prstGeom prst="rect">
            <a:avLst/>
          </a:prstGeom>
          <a:solidFill>
            <a:srgbClr val="FDF3F2"/>
          </a:solidFill>
          <a:ln w="12700">
            <a:solidFill>
              <a:srgbClr val="F2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B42B1E"/>
                </a:solidFill>
                <a:latin typeface="Segoe UI"/>
              </a:rPr>
              <a:t>БЕЗ долговременной памяти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4846320" cy="105156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49424"/>
            <a:ext cx="4480559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>
                <a:solidFill>
                  <a:srgbClr val="141B27"/>
                </a:solidFill>
                <a:latin typeface="Consolas"/>
              </a:rPr>
              <a:t>Пользователь: «текст в ViewModel — как?»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>
                <a:solidFill>
                  <a:srgbClr val="141B27"/>
                </a:solidFill>
                <a:latin typeface="Consolas"/>
              </a:rPr>
              <a:t>Агент: предлагает stringResource вне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>
                <a:solidFill>
                  <a:srgbClr val="141B27"/>
                </a:solidFill>
                <a:latin typeface="Consolas"/>
              </a:rPr>
              <a:t>       Composable → нарушение правила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Правило «текст вне Composable — только AppText» знает пользователь, не агент.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Повторное объяснение + правка кода + потеря доверия.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В худшем случае правило «immutable» тихо нарушено.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349240" cy="4480560"/>
          </a:xfrm>
          <a:prstGeom prst="rect">
            <a:avLst/>
          </a:prstGeom>
          <a:solidFill>
            <a:srgbClr val="EFFAF4"/>
          </a:solidFill>
          <a:ln w="12700">
            <a:solidFill>
              <a:srgbClr val="C4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66420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F7B4F"/>
                </a:solidFill>
                <a:latin typeface="Segoe UI"/>
              </a:rPr>
              <a:t>С памятью (recall 71 мс)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9672" y="2103120"/>
            <a:ext cx="4846320" cy="105156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249424"/>
            <a:ext cx="4480559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>
                <a:solidFill>
                  <a:srgbClr val="141B27"/>
                </a:solidFill>
                <a:latin typeface="Consolas"/>
              </a:rPr>
              <a:t>llm_memory_recall("текст вне Composable")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>
                <a:solidFill>
                  <a:srgbClr val="141B27"/>
                </a:solidFill>
                <a:latin typeface="Consolas"/>
              </a:rPr>
              <a:t>→ [important] BookShelf: AppText из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>
                <a:solidFill>
                  <a:srgbClr val="141B27"/>
                </a:solidFill>
                <a:latin typeface="Consolas"/>
              </a:rPr>
              <a:t>   core:designsystem   (kind=rules)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310128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Ответ сразу опирается на зафиксированное правило и его источник.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Пользователю не нужно повторять: знание переживает сессию.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50" b="0">
                <a:solidFill>
                  <a:srgbClr val="141B27"/>
                </a:solidFill>
                <a:latin typeface="Segoe UI"/>
              </a:rPr>
              <a:t>Если правило изменится — новая запись supersedes старую, противоречия не остаётся.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F5FEB"/>
                </a:solidFill>
                <a:latin typeface="Segoe UI"/>
              </a:rPr>
              <a:t>▪  </a:t>
            </a:r>
            <a:r>
              <a:rPr sz="1250" b="0">
                <a:solidFill>
                  <a:srgbClr val="141B27"/>
                </a:solidFill>
                <a:latin typeface="Segoe UI"/>
              </a:rPr>
              <a:t>Ровно этот механизм работает в текущей сессии: правила пришли из памяти, а не из AGENTS.md.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Пример из живого хранилища (правило BookShelf про AppText, _user/rules); метрики — замеры 09.10.2026.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Сравнение подходов к долговременной памяти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63040"/>
          <a:ext cx="11064237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1659636"/>
                <a:gridCol w="1438351"/>
                <a:gridCol w="1880920"/>
                <a:gridCol w="2102205"/>
                <a:gridCol w="18809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Подход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Хранение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Поиск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Стоимость запроса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Точность / семантика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Переносимость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Ничего (только сессия)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только текущий контекст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нет памяти вообще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Always-on правила (AGENTS.md)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файл в промпте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нет (всё видно сразу)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5,2k токенов всегда (16 199 Б)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точное, но не адресное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полная (текст)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Markdown-вики + grep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md-файлы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grep/ripgrep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327 мс p50, 0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лексика, без ранжирования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полная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FTS5 + метаданные (этот плагин)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md + локальный индекс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bm25 + re-rank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71 мс p50, 0 ₽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лексика, RU-морфология страдает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полная (md — источник правды)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Векторный RAG (память-сервис)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векторная БД + текст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ANN по эмбеддингам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латентность + $ за эмбеддинги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семантика, синонимы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зависит от сервиса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Темпоральный граф знаний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граф сущностей и связей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обход графа + вектор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дороже ingestion и запроса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семантика + время, сложнее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слабая, схема вендора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Managed-облако (память вендора)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у вендора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внутренний у вендора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подписка/токены, данные вне контура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хорошая, но непрозрачная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7"/>
                          </a:solidFill>
                          <a:latin typeface="Segoe UI"/>
                        </a:rPr>
                        <a:t>нет: данные у вендора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Колонки «Стоимость/Точность» для этого плагина — замеры 09.10.2026; для остальных подходов — источники на следующем слайде.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Внешние замеры векторной и графовой памяти (числа первоисточников)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63040"/>
          <a:ext cx="11064238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20"/>
                <a:gridCol w="5089550"/>
                <a:gridCol w="4093768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Подход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Что заявлено (с числами)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Оговорка / контекст</a:t>
                      </a:r>
                    </a:p>
                  </a:txBody>
                  <a:tcPr marL="82296" marR="64008" marT="41148" marB="41148" anchor="ctr">
                    <a:solidFill>
                      <a:srgbClr val="14337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Mem0
(arXiv 2504.19413)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LOCOMO, Overall J: Mem0 66,88; Mem0+graph 68,44; OpenAI 52,90; Zep 65,99; LangMem 58,10. Full-context на том же бенчмарке — 72,90, то есть выше всех.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Токенов контекста на запрос: Mem0 1 764 против 26 031 у full-context. Полный цикл p95 1,44 с против 17,12 с. В абстракте «+26% к OpenAI», в теле — те же числа без пересчёта; 91% (абстракт) и 92% (§4.3) расходятся.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Zep / Graphiti
(arXiv 2501.13956)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DMR: 94,8% против 93,4% у MemGPT. LongMemEval_s: 63,8% против 55,4% (+15,2 п.п.) при 1,6k против 115k токенов и 3,2 с против 31,3 с (gpt-4o-mini); 71,2% против 60,2% (gpt-4o).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Авторы сами оговаривают DMR: в каждой беседе всего 60 сообщений, они легко влезают в окно. На LongMemEval_s лучше в 4 категориях из 6.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Letta / MemGPT
(arXiv 2310.08560)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DMR: MemGPT 93,4% против 35,3% у GPT-4 Turbo. Во вложенном key-value GPT-4 обнуляется на 3 уровнях, MemGPT — нет.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Memory blocks живут в контексте: рекомендация &lt;50k символов и &lt;20 блоков на агента; archival — векторная БД, запрашивается on-demand.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Сторонний бенчмарк
(arXiv 2608.11879)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Стоимость обслуживания на 100-ходовой диалог: Mem0 $0,019–0,065, Mastra OM $0,010–0,044, Hindsight $0,051–0,243, full transcript $0,858–0,869; точность Mem0 на 665 вопросах LoCoMo — 0,214–0,516.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B27"/>
                          </a:solidFill>
                          <a:latin typeface="Segoe UI"/>
                        </a:rPr>
                        <a:t>Независимая работа, не вендор. Даёт цену за диалог; цены за 1 000 диалогов в источниках нет.</a:t>
                      </a:r>
                    </a:p>
                  </a:txBody>
                  <a:tcPr marL="82296" marR="64008" marT="41148" marB="41148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Ссылки: arxiv.org/abs/2504.19413 (Table 2, §4.3–4.5) · arxiv.org/abs/2501.13956 (Tables 1–2) · arxiv.org/abs/2310.08560 (Table 2) · arxiv.org/abs/2608.11879 (Table 3). Проверено 09.10.2026.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Стоимость владения и то, о чём источники спорят друг с другом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08760"/>
            <a:ext cx="548640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08760"/>
            <a:ext cx="5486400" cy="45720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91639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6A00"/>
                </a:solidFill>
                <a:latin typeface="Segoe UI"/>
              </a:rPr>
              <a:t>Тарифы сервисов памяти (на 09.10.2026)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4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Mem0: Hobby — 10 000 add + 1 000 retrieval/мес бесплатно; Starter $19/мес; Pro $249/мес.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Zep: Flex $125/мес (50 000 credits), Flex Plus $375/мес; retrieval/storage — 0 credits.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Letta: Free — 3 агента, Pro $20/мес; сама Letta называет ~$100+/мес usage для casual coding.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OpenAI / Anthropic: отдельной цены за память нет — платятся токены; бенчмарков вендоры не публикуют.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367528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367528" cy="4572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91639"/>
            <a:ext cx="4956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0F7B4F"/>
                </a:solidFill>
                <a:latin typeface="Segoe UI"/>
              </a:rPr>
              <a:t>dsh-llm-memory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12264"/>
            <a:ext cx="495604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0 ₽ за запрос: локальный FTS5, ни одного вызова embedding-API, ни одной внешней БД.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Плата — диск (8,13 МБ индекса + 2,33 МБ markdown) и время: recall p50 71 мс.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Расплата за это — лексический поиск: морфология 0% на формах с окончанием, синонимы не находятся.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840480"/>
            <a:ext cx="548640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40480"/>
            <a:ext cx="5486400" cy="45720"/>
          </a:xfrm>
          <a:prstGeom prst="rect">
            <a:avLst/>
          </a:prstGeom>
          <a:solidFill>
            <a:srgbClr val="B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0233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B42B1E"/>
                </a:solidFill>
                <a:latin typeface="Segoe UI"/>
              </a:rPr>
              <a:t>Источники противоречат друг другу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443984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Mem0 §4.5 про Zep: граф потребляет «in excess of 600k tokens» на диалог, немедленный retrieval «often failed to answer our queries correctly», результат появлялся «after a delay of several hours».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Zep про себя: снижение response latency примерно на 90% и +18,5% точности.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Арбитра в первоисточниках нет — цифры вендоров нельзя сравнивать между собой напрямую, только с независимым замером.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5367528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40480"/>
            <a:ext cx="5367528" cy="4572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4023360"/>
            <a:ext cx="4956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5FEB"/>
                </a:solidFill>
                <a:latin typeface="Segoe UI"/>
              </a:rPr>
              <a:t>Как это читать при выборе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443984"/>
            <a:ext cx="495604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Платные сервисы покупают семантику (синонимы, парафразы) и managed-инфраструктуру — за подписку и внешние данные.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Локальный FTS5 покупает нулевую стоимость и предсказуемость — ценой лексики и ручной гигиены хранилища.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4B5563"/>
                </a:solidFill>
                <a:latin typeface="Segoe UI"/>
              </a:rPr>
              <a:t>Наш замер: 71 мс p50 и 0 ₽ против сотен миллисекунд и подписки у сервисов — при Recall@1 92,5% на своих формулировках.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Тарифы: mem0.ai/pricing · getzep.com/pricing · letta.com/pricing · help.openai.com (memory with ChatGPT) · docs.claude.com (memory tool). Противоречие — по текстам arXiv 2504.19413 §4.5 и 2501.13956.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Когда выбирать этот подход, а когда — нет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08760"/>
            <a:ext cx="534924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08760"/>
            <a:ext cx="5349240" cy="4572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91639"/>
            <a:ext cx="49377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F7B4F"/>
                </a:solidFill>
                <a:latin typeface="Segoe UI"/>
              </a:rPr>
              <a:t>Берите FTS5 + markdown, если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12264"/>
            <a:ext cx="49377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Знание в основном фактическое: пути, версии, решения, правила, грабли проекта.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Нужны нулевая стоимость запроса, локальность данных и человекочитаемое хранилище.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Важна объяснимость: видно, почему запись нашлась (bm25 + метаданные), и её можно править руками.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Запросы формулируются теми же словами, что и записи (код, идентификаторы, названия) — замер: Recall@1 92,5%.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840480"/>
            <a:ext cx="534924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840480"/>
            <a:ext cx="5349240" cy="45720"/>
          </a:xfrm>
          <a:prstGeom prst="rect">
            <a:avLst/>
          </a:prstGeom>
          <a:solidFill>
            <a:srgbClr val="B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023360"/>
            <a:ext cx="49377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B42B1E"/>
                </a:solidFill>
                <a:latin typeface="Segoe UI"/>
              </a:rPr>
              <a:t>Ищите другой подход, если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443984"/>
            <a:ext cx="49377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Пользователь формулирует свободным текстом с синонимами и опечатками: нужна семантика (эмбеддинги) — замер: морфология 0%.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Корпус вырос до сотен тысяч записей и re-rank 60 мс уже недопустим.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Хранилище живёт на медленном монтировании (WSL /mnt/c): 94% стоимости stat — 9p.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Нужны мультипользовательские права и облачная синхронизация: это однопроцессный локальный стор.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34924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5349240" cy="45720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691639"/>
            <a:ext cx="49377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5FEB"/>
                </a:solidFill>
                <a:latin typeface="Segoe UI"/>
              </a:rPr>
              <a:t>Что улучшить в первую очередь (дорожная карта)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112264"/>
            <a:ext cx="49377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Гибрид: локальные эмбеддинги поверх FTS5 с RRF-слиянием — закрывает морфологию и синонимы, сохраняя 0 ₽ на запрос.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Кап кандидатов и дешёвый предотбор: убрать 59,5 мс re-rank из 71 мс.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Access-счётчик: вес acc в ranking.ts уже зарезервирован, но равен 0 — нужные записи не поднимаются по частоте обращений.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4B5563"/>
                </a:solidFill>
                <a:latin typeface="Segoe UI"/>
              </a:rPr>
              <a:t>Лемматизация или символьные n-граммы для RU/EN-словоформ.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534924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40480"/>
            <a:ext cx="5349240" cy="45720"/>
          </a:xfrm>
          <a:prstGeom prst="rect">
            <a:avLst/>
          </a:prstGeom>
          <a:solidFill>
            <a:srgbClr val="14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4023360"/>
            <a:ext cx="49377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4337A"/>
                </a:solidFill>
                <a:latin typeface="Segoe UI"/>
              </a:rPr>
              <a:t>Итог в одну строку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443984"/>
            <a:ext cx="49377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4B5563"/>
                </a:solidFill>
                <a:latin typeface="Segoe UI"/>
              </a:rPr>
              <a:t>dsh-llm-memory покупает «память между сессиями» за 71 мс и 0 ₽ на запрос, честно платя за это лексическим поиском, ростом индекса и ценой старта на медленных ФС.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4B5563"/>
                </a:solidFill>
                <a:latin typeface="Segoe UI"/>
              </a:rPr>
              <a:t>Для агентной разработки на одном рабочем месте замеры показывают, что это выгодный размен — при дисциплине записи и гигиене хранилища.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Все числовые утверждения на слайде — замеры 09.10.2026 (/tmp/memory-bench.json).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5FEB"/>
                </a:solidFill>
                <a:latin typeface="Segoe UI"/>
              </a:rPr>
              <a:t>МЕТОД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41B27"/>
                </a:solidFill>
                <a:latin typeface="Segoe UI"/>
              </a:rPr>
              <a:t>Приложение: как воспроизвести замеры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005840" cy="50292"/>
          </a:xfrm>
          <a:prstGeom prst="rect">
            <a:avLst/>
          </a:prstGeom>
          <a:solidFill>
            <a:srgbClr val="1F5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08760"/>
            <a:ext cx="11064240" cy="2788920"/>
          </a:xfrm>
          <a:prstGeom prst="rect">
            <a:avLst/>
          </a:prstGeom>
          <a:solidFill>
            <a:srgbClr val="0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55063"/>
            <a:ext cx="1069848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># 1. Индекс и старт (живой корень, БД копируется во временный каталог)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>cd ~/Development/dsh-llm-memory &amp;&amp; pnpm run build &amp;&amp; node scripts/bench-index.mjs --json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># 2. Recall: латентность, качество, baseline'ы (копия _db/memory.db, живые данные не пишутся)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>node /tmp/bench-recall.mjs &gt; /tmp/bench-recall.json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># 3. Запись и служебные операции (временный корень в /tmp, живой side не затрагивается)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>node /tmp/bench-ops.mjs &gt; /tmp/bench-ops.json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># 4. Агрегат всех чисел, использованных в колоде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>
                <a:solidFill>
                  <a:srgbClr val="D6E2FF"/>
                </a:solidFill>
                <a:latin typeface="Consolas"/>
              </a:rPr>
              <a:t>/tmp/pptx-venv/bin/python /tmp/make-deck.py   # читает /tmp/memory-bench.json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26280"/>
            <a:ext cx="11064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200" b="1">
                <a:solidFill>
                  <a:srgbClr val="1F5FEB"/>
                </a:solidFill>
                <a:latin typeface="Segoe UI"/>
              </a:rPr>
              <a:t>▪  </a:t>
            </a:r>
            <a:r>
              <a:rPr sz="1200" b="0">
                <a:solidFill>
                  <a:srgbClr val="141B27"/>
                </a:solidFill>
                <a:latin typeface="Segoe UI"/>
              </a:rPr>
              <a:t>Метод recall: 200 запросов = заголовки активных записей (877 страниц, 12 корней); считается позиция нужной записи в выдаче top-10, латентность — из 200 замеров.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200" b="1">
                <a:solidFill>
                  <a:srgbClr val="1F5FEB"/>
                </a:solidFill>
                <a:latin typeface="Segoe UI"/>
              </a:rPr>
              <a:t>▪  </a:t>
            </a:r>
            <a:r>
              <a:rPr sz="1200" b="0">
                <a:solidFill>
                  <a:srgbClr val="141B27"/>
                </a:solidFill>
                <a:latin typeface="Segoe UI"/>
              </a:rPr>
              <a:t>Оценка токенов = байты / 4 (для RU это ориентир, не точный счётчик); версии: Node 24.20.0, WSL2/Arch, dsh-llm-memory 0.1.1.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20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00" b="0">
                <a:solidFill>
                  <a:srgbClr val="141B27"/>
                </a:solidFill>
                <a:latin typeface="Segoe UI"/>
              </a:rPr>
              <a:t>Ограничения проверки: визуальный рендер слайдов не выполнялся (LibreOffice в системе нет); корректность проверена чтением файла через python-pptx.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200" b="1">
                <a:solidFill>
                  <a:srgbClr val="1F5FEB"/>
                </a:solidFill>
                <a:latin typeface="Segoe UI"/>
              </a:rPr>
              <a:t>–  </a:t>
            </a:r>
            <a:r>
              <a:rPr sz="1100" b="0">
                <a:solidFill>
                  <a:srgbClr val="141B27"/>
                </a:solidFill>
                <a:latin typeface="Segoe UI"/>
              </a:rPr>
              <a:t>Все замеры — одномоментный срез живой рабочей машины: абсолютные значения зависят от ФС, размера корпуса и железа; сравнения внутри слайда сняты в одном прогоне.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8A93A5"/>
                </a:solidFill>
                <a:latin typeface="Segoe UI"/>
              </a:rPr>
              <a:t>Скрипты: scripts/bench-index.mjs (в репозитории), /tmp/bench-recall.mjs и /tmp/bench-ops.mjs (созданы для этих замеров).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